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3"/>
    </p:embeddedFont>
    <p:embeddedFont>
      <p:font typeface="Aptos" charset="1" panose="020B00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Slide" Target="notesSlides/notesSlide3.xml"/><Relationship Id="rId39" Type="http://schemas.openxmlformats.org/officeDocument/2006/relationships/customXml" Target="../customXml/item2.xml"/><Relationship Id="rId21" Type="http://schemas.openxmlformats.org/officeDocument/2006/relationships/theme" Target="theme/theme2.xml"/><Relationship Id="rId34" Type="http://schemas.openxmlformats.org/officeDocument/2006/relationships/notesSlide" Target="notesSlides/notesSlide1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Slide" Target="notesSlides/notesSlide2.xml"/><Relationship Id="rId33" Type="http://schemas.openxmlformats.org/officeDocument/2006/relationships/notesSlide" Target="notesSlides/notesSlide10.xml"/><Relationship Id="rId7" Type="http://schemas.openxmlformats.org/officeDocument/2006/relationships/slide" Target="slides/slide2.xml"/><Relationship Id="rId38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9" Type="http://schemas.openxmlformats.org/officeDocument/2006/relationships/notesSlide" Target="notesSlides/notesSlide6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32" Type="http://schemas.openxmlformats.org/officeDocument/2006/relationships/notesSlide" Target="notesSlides/notesSlide9.xml"/><Relationship Id="rId37" Type="http://schemas.openxmlformats.org/officeDocument/2006/relationships/notesSlide" Target="notesSlides/notesSlide14.xml"/><Relationship Id="rId6" Type="http://schemas.openxmlformats.org/officeDocument/2006/relationships/slide" Target="slides/slide1.xml"/><Relationship Id="rId40" Type="http://schemas.openxmlformats.org/officeDocument/2006/relationships/customXml" Target="../customXml/item3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28" Type="http://schemas.openxmlformats.org/officeDocument/2006/relationships/notesSlide" Target="notesSlides/notesSlide5.xml"/><Relationship Id="rId36" Type="http://schemas.openxmlformats.org/officeDocument/2006/relationships/notesSlide" Target="notesSlides/notesSlide13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Slide" Target="notesSlides/notesSlide8.xml"/><Relationship Id="rId14" Type="http://schemas.openxmlformats.org/officeDocument/2006/relationships/slide" Target="slides/slide9.xml"/><Relationship Id="rId22" Type="http://schemas.openxmlformats.org/officeDocument/2006/relationships/notesSlide" Target="notesSlides/notesSlide1.xml"/><Relationship Id="rId27" Type="http://schemas.openxmlformats.org/officeDocument/2006/relationships/notesSlide" Target="notesSlides/notesSlide4.xml"/><Relationship Id="rId30" Type="http://schemas.openxmlformats.org/officeDocument/2006/relationships/notesSlide" Target="notesSlides/notesSlide7.xml"/><Relationship Id="rId35" Type="http://schemas.openxmlformats.org/officeDocument/2006/relationships/notesSlide" Target="notesSlides/notesSlide12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3" Type="http://schemas.openxmlformats.org/officeDocument/2006/relationships/viewProps" Target="viewProps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2688" y="960120"/>
            <a:ext cx="6858000" cy="438912"/>
            <a:chOff x="0" y="0"/>
            <a:chExt cx="9144000" cy="585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UPDATES SINCE JAN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" y="1673352"/>
            <a:ext cx="8983980" cy="2674620"/>
            <a:chOff x="0" y="0"/>
            <a:chExt cx="11978640" cy="3566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7864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" r="0" b="-154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197864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39"/>
                </a:lnSpc>
              </a:pPr>
              <a:r>
                <a:rPr lang="en-US" sz="6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Working</a:t>
              </a:r>
            </a:p>
            <a:p>
              <a:pPr algn="l">
                <a:lnSpc>
                  <a:spcPts val="7739"/>
                </a:lnSpc>
              </a:pPr>
              <a:r>
                <a:rPr lang="en-US" sz="6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Professionals</a:t>
              </a:r>
            </a:p>
            <a:p>
              <a:pPr algn="l">
                <a:lnSpc>
                  <a:spcPts val="7739"/>
                </a:lnSpc>
              </a:pPr>
              <a:r>
                <a:rPr lang="en-US" sz="6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 to Know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552" y="4869180"/>
            <a:ext cx="7269480" cy="480060"/>
            <a:chOff x="0" y="0"/>
            <a:chExt cx="969264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692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Major updates. Practical impact. Clear actions.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027" y="6231255"/>
            <a:ext cx="8111490" cy="1390650"/>
            <a:chOff x="0" y="0"/>
            <a:chExt cx="10815320" cy="1854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53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81532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10629900" y="0"/>
                  </a:lnTo>
                  <a:cubicBezTo>
                    <a:pt x="10732262" y="0"/>
                    <a:pt x="10815320" y="83058"/>
                    <a:pt x="10815320" y="185420"/>
                  </a:cubicBezTo>
                  <a:lnTo>
                    <a:pt x="10815320" y="1668780"/>
                  </a:lnTo>
                  <a:cubicBezTo>
                    <a:pt x="10815320" y="1771142"/>
                    <a:pt x="10732262" y="1854200"/>
                    <a:pt x="10629900" y="1854200"/>
                  </a:cubicBezTo>
                  <a:lnTo>
                    <a:pt x="185420" y="1854200"/>
                  </a:lnTo>
                  <a:cubicBezTo>
                    <a:pt x="83058" y="1854200"/>
                    <a:pt x="0" y="1771142"/>
                    <a:pt x="0" y="1668780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8027" y="6231255"/>
            <a:ext cx="128778" cy="1390650"/>
            <a:chOff x="0" y="0"/>
            <a:chExt cx="171704" cy="1854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704" cy="1854200"/>
            </a:xfrm>
            <a:custGeom>
              <a:avLst/>
              <a:gdLst/>
              <a:ahLst/>
              <a:cxnLst/>
              <a:rect r="r" b="b" t="t" l="l"/>
              <a:pathLst>
                <a:path h="185420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9304" y="6446520"/>
            <a:ext cx="7516368" cy="411480"/>
            <a:chOff x="0" y="0"/>
            <a:chExt cx="10021824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21824" cy="548640"/>
            </a:xfrm>
            <a:custGeom>
              <a:avLst/>
              <a:gdLst/>
              <a:ahLst/>
              <a:cxnLst/>
              <a:rect r="r" b="b" t="t" l="l"/>
              <a:pathLst>
                <a:path h="548640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926" r="0" b="-3059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02182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message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9304" y="7091172"/>
            <a:ext cx="7516368" cy="384048"/>
            <a:chOff x="0" y="0"/>
            <a:chExt cx="10021824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21824" cy="512064"/>
            </a:xfrm>
            <a:custGeom>
              <a:avLst/>
              <a:gdLst/>
              <a:ahLst/>
              <a:cxnLst/>
              <a:rect r="r" b="b" t="t" l="l"/>
              <a:pathLst>
                <a:path h="512064" w="10021824">
                  <a:moveTo>
                    <a:pt x="0" y="0"/>
                  </a:moveTo>
                  <a:lnTo>
                    <a:pt x="10021824" y="0"/>
                  </a:lnTo>
                  <a:lnTo>
                    <a:pt x="1002182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50" r="0" b="-3313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02182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AI is becoming an execution layer for knowledge work.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34875" y="1293495"/>
            <a:ext cx="1774698" cy="1774698"/>
            <a:chOff x="0" y="0"/>
            <a:chExt cx="2366264" cy="23662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66264" cy="2366264"/>
            </a:xfrm>
            <a:custGeom>
              <a:avLst/>
              <a:gdLst/>
              <a:ahLst/>
              <a:cxnLst/>
              <a:rect r="r" b="b" t="t" l="l"/>
              <a:pathLst>
                <a:path h="2366264" w="2366264">
                  <a:moveTo>
                    <a:pt x="0" y="1183132"/>
                  </a:moveTo>
                  <a:cubicBezTo>
                    <a:pt x="0" y="529717"/>
                    <a:pt x="529717" y="0"/>
                    <a:pt x="1183132" y="0"/>
                  </a:cubicBezTo>
                  <a:cubicBezTo>
                    <a:pt x="1836547" y="0"/>
                    <a:pt x="2366264" y="529717"/>
                    <a:pt x="2366264" y="1183132"/>
                  </a:cubicBezTo>
                  <a:cubicBezTo>
                    <a:pt x="2366264" y="1836547"/>
                    <a:pt x="1836547" y="2366264"/>
                    <a:pt x="1183132" y="2366264"/>
                  </a:cubicBezTo>
                  <a:cubicBezTo>
                    <a:pt x="529717" y="2366264"/>
                    <a:pt x="0" y="1836547"/>
                    <a:pt x="0" y="1183132"/>
                  </a:cubicBezTo>
                  <a:close/>
                </a:path>
              </a:pathLst>
            </a:custGeom>
            <a:solidFill>
              <a:srgbClr val="2A8FC4">
                <a:alpha val="63922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06475" y="2870835"/>
            <a:ext cx="1253490" cy="1253490"/>
            <a:chOff x="0" y="0"/>
            <a:chExt cx="1671320" cy="1671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00D4AA">
                <a:alpha val="67059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40615" y="5545455"/>
            <a:ext cx="1088898" cy="1088898"/>
            <a:chOff x="0" y="0"/>
            <a:chExt cx="1451864" cy="14518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51864" cy="1451864"/>
            </a:xfrm>
            <a:custGeom>
              <a:avLst/>
              <a:gdLst/>
              <a:ahLst/>
              <a:cxnLst/>
              <a:rect r="r" b="b" t="t" l="l"/>
              <a:pathLst>
                <a:path h="1451864" w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8B6FD6">
                <a:alpha val="67059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57835" y="2116455"/>
            <a:ext cx="1047750" cy="1116330"/>
            <a:chOff x="0" y="0"/>
            <a:chExt cx="1397000" cy="1488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70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397000">
                  <a:moveTo>
                    <a:pt x="0" y="0"/>
                  </a:moveTo>
                  <a:lnTo>
                    <a:pt x="1397000" y="14884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6701" t="0" r="-86701" b="0"/>
              </a:stretch>
            </a:blipFill>
            <a:ln w="19050" cap="sq">
              <a:solidFill>
                <a:srgbClr val="6C849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020675" y="2185035"/>
            <a:ext cx="19050" cy="3653790"/>
            <a:chOff x="0" y="0"/>
            <a:chExt cx="25400" cy="4871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4871720"/>
            </a:xfrm>
            <a:custGeom>
              <a:avLst/>
              <a:gdLst/>
              <a:ahLst/>
              <a:cxnLst/>
              <a:rect r="r" b="b" t="t" l="l"/>
              <a:pathLst>
                <a:path h="4871720" w="25400">
                  <a:moveTo>
                    <a:pt x="0" y="0"/>
                  </a:moveTo>
                  <a:lnTo>
                    <a:pt x="25400" y="48717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24558625" t="0" r="-24558625" b="0"/>
              </a:stretch>
            </a:blipFill>
            <a:ln w="19050" cap="sq">
              <a:solidFill>
                <a:srgbClr val="6C849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BIG PICTURE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shifted from output to execution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The question is no longer “Can AI answer?” It is “Can AI help operate?”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2347" y="3488055"/>
            <a:ext cx="1226058" cy="1226058"/>
            <a:chOff x="0" y="0"/>
            <a:chExt cx="1634744" cy="16347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4744" cy="1634744"/>
            </a:xfrm>
            <a:custGeom>
              <a:avLst/>
              <a:gdLst/>
              <a:ahLst/>
              <a:cxnLst/>
              <a:rect r="r" b="b" t="t" l="l"/>
              <a:pathLst>
                <a:path h="1634744" w="1634744">
                  <a:moveTo>
                    <a:pt x="0" y="817372"/>
                  </a:moveTo>
                  <a:cubicBezTo>
                    <a:pt x="0" y="365887"/>
                    <a:pt x="365887" y="0"/>
                    <a:pt x="817372" y="0"/>
                  </a:cubicBezTo>
                  <a:cubicBezTo>
                    <a:pt x="1268857" y="0"/>
                    <a:pt x="1634744" y="365887"/>
                    <a:pt x="1634744" y="817372"/>
                  </a:cubicBezTo>
                  <a:cubicBezTo>
                    <a:pt x="1634744" y="1268857"/>
                    <a:pt x="1268857" y="1634744"/>
                    <a:pt x="817372" y="1634744"/>
                  </a:cubicBezTo>
                  <a:cubicBezTo>
                    <a:pt x="365887" y="1634744"/>
                    <a:pt x="0" y="1268857"/>
                    <a:pt x="0" y="817372"/>
                  </a:cubicBezTo>
                  <a:close/>
                </a:path>
              </a:pathLst>
            </a:custGeom>
            <a:solidFill>
              <a:srgbClr val="00D4AA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1872" y="3826764"/>
            <a:ext cx="1207008" cy="274320"/>
            <a:chOff x="0" y="0"/>
            <a:chExt cx="1609344" cy="365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9344" cy="365760"/>
            </a:xfrm>
            <a:custGeom>
              <a:avLst/>
              <a:gdLst/>
              <a:ahLst/>
              <a:cxnLst/>
              <a:rect r="r" b="b" t="t" l="l"/>
              <a:pathLst>
                <a:path h="36576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60934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7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972" y="5006340"/>
            <a:ext cx="1892808" cy="384048"/>
            <a:chOff x="0" y="0"/>
            <a:chExt cx="2523744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23744" cy="512064"/>
            </a:xfrm>
            <a:custGeom>
              <a:avLst/>
              <a:gdLst/>
              <a:ahLst/>
              <a:cxnLst/>
              <a:rect r="r" b="b" t="t" l="l"/>
              <a:pathLst>
                <a:path h="51206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52374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86787" y="4077843"/>
            <a:ext cx="1733550" cy="19050"/>
            <a:chOff x="0" y="0"/>
            <a:chExt cx="2311400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11400" cy="25400"/>
            </a:xfrm>
            <a:custGeom>
              <a:avLst/>
              <a:gdLst/>
              <a:ahLst/>
              <a:cxnLst/>
              <a:rect r="r" b="b" t="t" l="l"/>
              <a:pathLst>
                <a:path h="25400" w="2311400">
                  <a:moveTo>
                    <a:pt x="0" y="0"/>
                  </a:moveTo>
                  <a:lnTo>
                    <a:pt x="231140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23138" r="0" b="-1723138"/>
              </a:stretch>
            </a:blipFill>
            <a:ln w="19050" cap="sq">
              <a:solidFill>
                <a:srgbClr val="1A456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516755" y="3488055"/>
            <a:ext cx="1226058" cy="1226058"/>
            <a:chOff x="0" y="0"/>
            <a:chExt cx="1634744" cy="16347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34744" cy="1634744"/>
            </a:xfrm>
            <a:custGeom>
              <a:avLst/>
              <a:gdLst/>
              <a:ahLst/>
              <a:cxnLst/>
              <a:rect r="r" b="b" t="t" l="l"/>
              <a:pathLst>
                <a:path h="1634744" w="1634744">
                  <a:moveTo>
                    <a:pt x="0" y="817372"/>
                  </a:moveTo>
                  <a:cubicBezTo>
                    <a:pt x="0" y="365887"/>
                    <a:pt x="365887" y="0"/>
                    <a:pt x="817372" y="0"/>
                  </a:cubicBezTo>
                  <a:cubicBezTo>
                    <a:pt x="1268857" y="0"/>
                    <a:pt x="1634744" y="365887"/>
                    <a:pt x="1634744" y="817372"/>
                  </a:cubicBezTo>
                  <a:cubicBezTo>
                    <a:pt x="1634744" y="1268857"/>
                    <a:pt x="1268857" y="1634744"/>
                    <a:pt x="817372" y="1634744"/>
                  </a:cubicBezTo>
                  <a:cubicBezTo>
                    <a:pt x="365887" y="1634744"/>
                    <a:pt x="0" y="1268857"/>
                    <a:pt x="0" y="817372"/>
                  </a:cubicBezTo>
                  <a:close/>
                </a:path>
              </a:pathLst>
            </a:custGeom>
            <a:solidFill>
              <a:srgbClr val="8B6FD6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26280" y="3826764"/>
            <a:ext cx="1207008" cy="274320"/>
            <a:chOff x="0" y="0"/>
            <a:chExt cx="1609344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09344" cy="365760"/>
            </a:xfrm>
            <a:custGeom>
              <a:avLst/>
              <a:gdLst/>
              <a:ahLst/>
              <a:cxnLst/>
              <a:rect r="r" b="b" t="t" l="l"/>
              <a:pathLst>
                <a:path h="36576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60934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7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83380" y="5006340"/>
            <a:ext cx="1892808" cy="384048"/>
            <a:chOff x="0" y="0"/>
            <a:chExt cx="2523744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23744" cy="512064"/>
            </a:xfrm>
            <a:custGeom>
              <a:avLst/>
              <a:gdLst/>
              <a:ahLst/>
              <a:cxnLst/>
              <a:rect r="r" b="b" t="t" l="l"/>
              <a:pathLst>
                <a:path h="51206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52374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751195" y="4077843"/>
            <a:ext cx="1733550" cy="19050"/>
            <a:chOff x="0" y="0"/>
            <a:chExt cx="23114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11400" cy="25400"/>
            </a:xfrm>
            <a:custGeom>
              <a:avLst/>
              <a:gdLst/>
              <a:ahLst/>
              <a:cxnLst/>
              <a:rect r="r" b="b" t="t" l="l"/>
              <a:pathLst>
                <a:path h="25400" w="2311400">
                  <a:moveTo>
                    <a:pt x="0" y="0"/>
                  </a:moveTo>
                  <a:lnTo>
                    <a:pt x="231140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23138" r="0" b="-1723138"/>
              </a:stretch>
            </a:blipFill>
            <a:ln w="19050" cap="sq">
              <a:solidFill>
                <a:srgbClr val="1A456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781163" y="3488055"/>
            <a:ext cx="1226058" cy="1226058"/>
            <a:chOff x="0" y="0"/>
            <a:chExt cx="1634744" cy="16347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34744" cy="1634744"/>
            </a:xfrm>
            <a:custGeom>
              <a:avLst/>
              <a:gdLst/>
              <a:ahLst/>
              <a:cxnLst/>
              <a:rect r="r" b="b" t="t" l="l"/>
              <a:pathLst>
                <a:path h="1634744" w="1634744">
                  <a:moveTo>
                    <a:pt x="0" y="817372"/>
                  </a:moveTo>
                  <a:cubicBezTo>
                    <a:pt x="0" y="365887"/>
                    <a:pt x="365887" y="0"/>
                    <a:pt x="817372" y="0"/>
                  </a:cubicBezTo>
                  <a:cubicBezTo>
                    <a:pt x="1268857" y="0"/>
                    <a:pt x="1634744" y="365887"/>
                    <a:pt x="1634744" y="817372"/>
                  </a:cubicBezTo>
                  <a:cubicBezTo>
                    <a:pt x="1634744" y="1268857"/>
                    <a:pt x="1268857" y="1634744"/>
                    <a:pt x="817372" y="1634744"/>
                  </a:cubicBezTo>
                  <a:cubicBezTo>
                    <a:pt x="365887" y="1634744"/>
                    <a:pt x="0" y="1268857"/>
                    <a:pt x="0" y="817372"/>
                  </a:cubicBezTo>
                  <a:close/>
                </a:path>
              </a:pathLst>
            </a:custGeom>
            <a:solidFill>
              <a:srgbClr val="2A8FC4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790688" y="3826764"/>
            <a:ext cx="1207008" cy="274320"/>
            <a:chOff x="0" y="0"/>
            <a:chExt cx="1609344" cy="365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09344" cy="365760"/>
            </a:xfrm>
            <a:custGeom>
              <a:avLst/>
              <a:gdLst/>
              <a:ahLst/>
              <a:cxnLst/>
              <a:rect r="r" b="b" t="t" l="l"/>
              <a:pathLst>
                <a:path h="36576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60934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7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47788" y="5006340"/>
            <a:ext cx="1892808" cy="384048"/>
            <a:chOff x="0" y="0"/>
            <a:chExt cx="2523744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23744" cy="512064"/>
            </a:xfrm>
            <a:custGeom>
              <a:avLst/>
              <a:gdLst/>
              <a:ahLst/>
              <a:cxnLst/>
              <a:rect r="r" b="b" t="t" l="l"/>
              <a:pathLst>
                <a:path h="51206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52374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Multimodal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5603" y="4077843"/>
            <a:ext cx="1733550" cy="19050"/>
            <a:chOff x="0" y="0"/>
            <a:chExt cx="2311400" cy="25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11400" cy="25400"/>
            </a:xfrm>
            <a:custGeom>
              <a:avLst/>
              <a:gdLst/>
              <a:ahLst/>
              <a:cxnLst/>
              <a:rect r="r" b="b" t="t" l="l"/>
              <a:pathLst>
                <a:path h="25400" w="2311400">
                  <a:moveTo>
                    <a:pt x="0" y="0"/>
                  </a:moveTo>
                  <a:lnTo>
                    <a:pt x="231140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23138" r="0" b="-1723138"/>
              </a:stretch>
            </a:blipFill>
            <a:ln w="19050" cap="sq">
              <a:solidFill>
                <a:srgbClr val="1A456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045571" y="3488055"/>
            <a:ext cx="1226058" cy="1226058"/>
            <a:chOff x="0" y="0"/>
            <a:chExt cx="1634744" cy="16347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34744" cy="1634744"/>
            </a:xfrm>
            <a:custGeom>
              <a:avLst/>
              <a:gdLst/>
              <a:ahLst/>
              <a:cxnLst/>
              <a:rect r="r" b="b" t="t" l="l"/>
              <a:pathLst>
                <a:path h="1634744" w="1634744">
                  <a:moveTo>
                    <a:pt x="0" y="817372"/>
                  </a:moveTo>
                  <a:cubicBezTo>
                    <a:pt x="0" y="365887"/>
                    <a:pt x="365887" y="0"/>
                    <a:pt x="817372" y="0"/>
                  </a:cubicBezTo>
                  <a:cubicBezTo>
                    <a:pt x="1268857" y="0"/>
                    <a:pt x="1634744" y="365887"/>
                    <a:pt x="1634744" y="817372"/>
                  </a:cubicBezTo>
                  <a:cubicBezTo>
                    <a:pt x="1634744" y="1268857"/>
                    <a:pt x="1268857" y="1634744"/>
                    <a:pt x="817372" y="1634744"/>
                  </a:cubicBezTo>
                  <a:cubicBezTo>
                    <a:pt x="365887" y="1634744"/>
                    <a:pt x="0" y="1268857"/>
                    <a:pt x="0" y="817372"/>
                  </a:cubicBezTo>
                  <a:close/>
                </a:path>
              </a:pathLst>
            </a:custGeom>
            <a:solidFill>
              <a:srgbClr val="F2B84B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055096" y="3826764"/>
            <a:ext cx="1207008" cy="274320"/>
            <a:chOff x="0" y="0"/>
            <a:chExt cx="1609344" cy="365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09344" cy="365760"/>
            </a:xfrm>
            <a:custGeom>
              <a:avLst/>
              <a:gdLst/>
              <a:ahLst/>
              <a:cxnLst/>
              <a:rect r="r" b="b" t="t" l="l"/>
              <a:pathLst>
                <a:path h="36576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60934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7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712196" y="5006340"/>
            <a:ext cx="1892808" cy="384048"/>
            <a:chOff x="0" y="0"/>
            <a:chExt cx="2523744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23744" cy="512064"/>
            </a:xfrm>
            <a:custGeom>
              <a:avLst/>
              <a:gdLst/>
              <a:ahLst/>
              <a:cxnLst/>
              <a:rect r="r" b="b" t="t" l="l"/>
              <a:pathLst>
                <a:path h="51206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52374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80011" y="4077843"/>
            <a:ext cx="1733550" cy="19050"/>
            <a:chOff x="0" y="0"/>
            <a:chExt cx="2311400" cy="25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11400" cy="25400"/>
            </a:xfrm>
            <a:custGeom>
              <a:avLst/>
              <a:gdLst/>
              <a:ahLst/>
              <a:cxnLst/>
              <a:rect r="r" b="b" t="t" l="l"/>
              <a:pathLst>
                <a:path h="25400" w="2311400">
                  <a:moveTo>
                    <a:pt x="0" y="0"/>
                  </a:moveTo>
                  <a:lnTo>
                    <a:pt x="231140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723138" r="0" b="-1723138"/>
              </a:stretch>
            </a:blipFill>
            <a:ln w="19050" cap="sq">
              <a:solidFill>
                <a:srgbClr val="1A456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309979" y="3488055"/>
            <a:ext cx="1226058" cy="1226058"/>
            <a:chOff x="0" y="0"/>
            <a:chExt cx="1634744" cy="16347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34744" cy="1634744"/>
            </a:xfrm>
            <a:custGeom>
              <a:avLst/>
              <a:gdLst/>
              <a:ahLst/>
              <a:cxnLst/>
              <a:rect r="r" b="b" t="t" l="l"/>
              <a:pathLst>
                <a:path h="1634744" w="1634744">
                  <a:moveTo>
                    <a:pt x="0" y="817372"/>
                  </a:moveTo>
                  <a:cubicBezTo>
                    <a:pt x="0" y="365887"/>
                    <a:pt x="365887" y="0"/>
                    <a:pt x="817372" y="0"/>
                  </a:cubicBezTo>
                  <a:cubicBezTo>
                    <a:pt x="1268857" y="0"/>
                    <a:pt x="1634744" y="365887"/>
                    <a:pt x="1634744" y="817372"/>
                  </a:cubicBezTo>
                  <a:cubicBezTo>
                    <a:pt x="1634744" y="1268857"/>
                    <a:pt x="1268857" y="1634744"/>
                    <a:pt x="817372" y="1634744"/>
                  </a:cubicBezTo>
                  <a:cubicBezTo>
                    <a:pt x="365887" y="1634744"/>
                    <a:pt x="0" y="1268857"/>
                    <a:pt x="0" y="817372"/>
                  </a:cubicBezTo>
                  <a:close/>
                </a:path>
              </a:pathLst>
            </a:custGeom>
            <a:solidFill>
              <a:srgbClr val="2ECC71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319504" y="3826764"/>
            <a:ext cx="1207008" cy="274320"/>
            <a:chOff x="0" y="0"/>
            <a:chExt cx="1609344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09344" cy="365760"/>
            </a:xfrm>
            <a:custGeom>
              <a:avLst/>
              <a:gdLst/>
              <a:ahLst/>
              <a:cxnLst/>
              <a:rect r="r" b="b" t="t" l="l"/>
              <a:pathLst>
                <a:path h="365760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60934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718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976604" y="5006340"/>
            <a:ext cx="1892808" cy="384048"/>
            <a:chOff x="0" y="0"/>
            <a:chExt cx="2523744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23744" cy="512064"/>
            </a:xfrm>
            <a:custGeom>
              <a:avLst/>
              <a:gdLst/>
              <a:ahLst/>
              <a:cxnLst/>
              <a:rect r="r" b="b" t="t" l="l"/>
              <a:pathLst>
                <a:path h="512064" w="2523744">
                  <a:moveTo>
                    <a:pt x="0" y="0"/>
                  </a:moveTo>
                  <a:lnTo>
                    <a:pt x="2523744" y="0"/>
                  </a:lnTo>
                  <a:lnTo>
                    <a:pt x="25237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523744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Governance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00D4AA">
                <a:alpha val="1569"/>
              </a:srgbClr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Professionals must learn to direct, verify and govern AI work.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agents became digital coworkers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They can plan, use tools and complete bounded tasks.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 becomes delegable.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00D4AA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Changed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Goal → tools → evidence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Task briefs become a skill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0606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Wrong action at scale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00D4AA">
                <a:alpha val="1569"/>
              </a:srgbClr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Supervise AI like junior staff: clear brief, boundaries, evidence.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Coding agents became work infrastructure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Issue-to-PR and test-fix loops are becoming normal.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Specs become power.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8B6FD6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8B6F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Changed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Agents build from issues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Teams ship faster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Bad specs create bad code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8B6FD6">
                <a:alpha val="1569"/>
              </a:srgbClr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Non-developers who define workflows well gain leverage.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Multimodal AI became normal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AI can read documents, images, video, tabs and voice.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Files become context.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2A8FC4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Changed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AI sees work artifacts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Faster review and synthesis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Messy folders slow AI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2A8FC4">
                <a:alpha val="1569"/>
              </a:srgbClr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Clean, named, source-linked files become a productivity advantage.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 is becoming answer-engine search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Buyers and employees ask AI before clicking links.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Being found changes.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F2B84B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SEO → AEO / GEO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AI compares vendors first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Internal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Docs must be retrievable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2B84B">
                <a:alpha val="1569"/>
              </a:srgbClr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Make expertise structured, citable and easy for AI to quote.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Enterprise copilots became agent platforms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AI is moving inside Office, Teams, GitHub, CRM and ERP.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enters systems.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2A8FC4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Changed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Copilots connect to data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Work happens in-app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Permissions and audit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2A8FC4">
                <a:alpha val="1569"/>
              </a:srgbClr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Companies need data cleanup before mass AI rollout.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governance became operational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Regulation and enterprise controls are now practical concerns.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Trust needs proof.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2ECC71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What did AI do?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Who approved it?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Where is the log?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2ECC71">
                <a:alpha val="1569"/>
              </a:srgbClr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adoption is also a governance and accountability project.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 injection became a business risk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Connected agents can be tricked through data they read.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Access creates risk.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F06060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Limit data access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Write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Gate risky actions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0606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Send/Delete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Require approval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06060">
                <a:alpha val="1569"/>
              </a:srgbClr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 least privilege, sandboxing, approvals and audit trails.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Creative work became AI-assisted production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Design, video and content tools now include AI assistants.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Taste beats typing.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8B6FD6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8B6F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Changed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More drafts faster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Direction matters more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Brand rules and examples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8B6FD6">
                <a:alpha val="1569"/>
              </a:srgbClr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Creative professionals become directors of AI production.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ROI pressure increased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Executives now expect measurable workflow gains.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Usage is not value.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F2B84B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060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Bad metric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“Everyone has AI”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Good metric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Cycle time dropped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Baseline + KPI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F2B84B">
                <a:alpha val="1569"/>
              </a:srgbClr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Tie every AI project to a workflow KPI and owner.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Cheaper and specialised models matter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The best model is not always the biggest one.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Routing becomes strategy.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00D4AA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Cheap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Classify simple work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Protect sensitive data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8B6FD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Frontier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Use for hard reasoning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00D4AA">
                <a:alpha val="1569"/>
              </a:srgbClr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literacy includes picking the right model for the task.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 11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is embedding into business software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CRM, ERP, HR, finance and support systems are gaining AI layers.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3213735"/>
            <a:ext cx="2378202" cy="2378202"/>
            <a:chOff x="0" y="0"/>
            <a:chExt cx="3170936" cy="3170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0936" cy="3170936"/>
            </a:xfrm>
            <a:custGeom>
              <a:avLst/>
              <a:gdLst/>
              <a:ahLst/>
              <a:cxnLst/>
              <a:rect r="r" b="b" t="t" l="l"/>
              <a:pathLst>
                <a:path h="3170936" w="3170936">
                  <a:moveTo>
                    <a:pt x="0" y="1585468"/>
                  </a:moveTo>
                  <a:cubicBezTo>
                    <a:pt x="0" y="709803"/>
                    <a:pt x="709803" y="0"/>
                    <a:pt x="1585468" y="0"/>
                  </a:cubicBezTo>
                  <a:cubicBezTo>
                    <a:pt x="2461133" y="0"/>
                    <a:pt x="3170936" y="709803"/>
                    <a:pt x="3170936" y="1585468"/>
                  </a:cubicBezTo>
                  <a:cubicBezTo>
                    <a:pt x="3170936" y="2461133"/>
                    <a:pt x="2461133" y="3170936"/>
                    <a:pt x="1585468" y="3170936"/>
                  </a:cubicBezTo>
                  <a:cubicBezTo>
                    <a:pt x="709803" y="3170936"/>
                    <a:pt x="0" y="2461133"/>
                    <a:pt x="0" y="1585468"/>
                  </a:cubicBezTo>
                  <a:close/>
                </a:path>
              </a:pathLst>
            </a:custGeom>
            <a:solidFill>
              <a:srgbClr val="0E2B43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068" y="3675888"/>
            <a:ext cx="1453896" cy="1453896"/>
            <a:chOff x="0" y="0"/>
            <a:chExt cx="1938528" cy="1938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938528" cy="1938528"/>
            </a:xfrm>
            <a:custGeom>
              <a:avLst/>
              <a:gdLst/>
              <a:ahLst/>
              <a:cxnLst/>
              <a:rect r="r" b="b" t="t" l="l"/>
              <a:pathLst>
                <a:path h="1938528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1938528"/>
                  </a:lnTo>
                  <a:lnTo>
                    <a:pt x="0" y="1938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2880360"/>
            <a:ext cx="12138660" cy="1261872"/>
            <a:chOff x="0" y="0"/>
            <a:chExt cx="16184880" cy="1682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1848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6184880">
                  <a:moveTo>
                    <a:pt x="0" y="0"/>
                  </a:moveTo>
                  <a:lnTo>
                    <a:pt x="16184880" y="0"/>
                  </a:lnTo>
                  <a:lnTo>
                    <a:pt x="161848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37" r="0" b="-1374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18488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Workflow maps matter.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15003" y="4379595"/>
            <a:ext cx="1527810" cy="128778"/>
            <a:chOff x="0" y="0"/>
            <a:chExt cx="2037080" cy="1717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37080" cy="171704"/>
            </a:xfrm>
            <a:custGeom>
              <a:avLst/>
              <a:gdLst/>
              <a:ahLst/>
              <a:cxnLst/>
              <a:rect r="r" b="b" t="t" l="l"/>
              <a:pathLst>
                <a:path h="171704" w="2037080">
                  <a:moveTo>
                    <a:pt x="0" y="0"/>
                  </a:moveTo>
                  <a:lnTo>
                    <a:pt x="2037080" y="0"/>
                  </a:lnTo>
                  <a:lnTo>
                    <a:pt x="2037080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2A8FC4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73855" y="4859655"/>
            <a:ext cx="3722370" cy="1870710"/>
            <a:chOff x="0" y="0"/>
            <a:chExt cx="4963160" cy="2494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173855" y="4859655"/>
            <a:ext cx="128778" cy="1870710"/>
            <a:chOff x="0" y="0"/>
            <a:chExt cx="171704" cy="2494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85132" y="5074920"/>
            <a:ext cx="3127248" cy="411480"/>
            <a:chOff x="0" y="0"/>
            <a:chExt cx="4169664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Trigger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5132" y="5719572"/>
            <a:ext cx="3127248" cy="864108"/>
            <a:chOff x="0" y="0"/>
            <a:chExt cx="4169664" cy="1152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What starts work?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1495" y="4859655"/>
            <a:ext cx="3722370" cy="1870710"/>
            <a:chOff x="0" y="0"/>
            <a:chExt cx="4963160" cy="2494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151495" y="4859655"/>
            <a:ext cx="128778" cy="1870710"/>
            <a:chOff x="0" y="0"/>
            <a:chExt cx="171704" cy="2494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62772" y="5074920"/>
            <a:ext cx="3127248" cy="411480"/>
            <a:chOff x="0" y="0"/>
            <a:chExt cx="4169664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62772" y="5719572"/>
            <a:ext cx="3127248" cy="864108"/>
            <a:chOff x="0" y="0"/>
            <a:chExt cx="4169664" cy="11521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What changes system?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29135" y="4859655"/>
            <a:ext cx="3722370" cy="1870710"/>
            <a:chOff x="0" y="0"/>
            <a:chExt cx="4963160" cy="2494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631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4963160">
                  <a:moveTo>
                    <a:pt x="0" y="184785"/>
                  </a:moveTo>
                  <a:cubicBezTo>
                    <a:pt x="0" y="82677"/>
                    <a:pt x="82677" y="0"/>
                    <a:pt x="184785" y="0"/>
                  </a:cubicBezTo>
                  <a:lnTo>
                    <a:pt x="4778375" y="0"/>
                  </a:lnTo>
                  <a:cubicBezTo>
                    <a:pt x="4880356" y="0"/>
                    <a:pt x="4963160" y="82677"/>
                    <a:pt x="4963160" y="184785"/>
                  </a:cubicBezTo>
                  <a:lnTo>
                    <a:pt x="4963160" y="2309495"/>
                  </a:lnTo>
                  <a:cubicBezTo>
                    <a:pt x="4963160" y="2411476"/>
                    <a:pt x="4880483" y="2494280"/>
                    <a:pt x="4778375" y="2494280"/>
                  </a:cubicBezTo>
                  <a:lnTo>
                    <a:pt x="184785" y="2494280"/>
                  </a:lnTo>
                  <a:cubicBezTo>
                    <a:pt x="82677" y="2494280"/>
                    <a:pt x="0" y="2411603"/>
                    <a:pt x="0" y="2309495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9135" y="4859655"/>
            <a:ext cx="128778" cy="1870710"/>
            <a:chOff x="0" y="0"/>
            <a:chExt cx="171704" cy="2494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2494280"/>
            </a:xfrm>
            <a:custGeom>
              <a:avLst/>
              <a:gdLst/>
              <a:ahLst/>
              <a:cxnLst/>
              <a:rect r="r" b="b" t="t" l="l"/>
              <a:pathLst>
                <a:path h="2494280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2494280"/>
                  </a:lnTo>
                  <a:lnTo>
                    <a:pt x="0" y="2494280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40412" y="5074920"/>
            <a:ext cx="3127248" cy="411480"/>
            <a:chOff x="0" y="0"/>
            <a:chExt cx="4169664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9664" cy="548640"/>
            </a:xfrm>
            <a:custGeom>
              <a:avLst/>
              <a:gdLst/>
              <a:ahLst/>
              <a:cxnLst/>
              <a:rect r="r" b="b" t="t" l="l"/>
              <a:pathLst>
                <a:path h="5486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16966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Evidence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0412" y="5719572"/>
            <a:ext cx="3127248" cy="864108"/>
            <a:chOff x="0" y="0"/>
            <a:chExt cx="4169664" cy="1152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9664" cy="1152144"/>
            </a:xfrm>
            <a:custGeom>
              <a:avLst/>
              <a:gdLst/>
              <a:ahLst/>
              <a:cxnLst/>
              <a:rect r="r" b="b" t="t" l="l"/>
              <a:pathLst>
                <a:path h="1152144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152144"/>
                  </a:lnTo>
                  <a:lnTo>
                    <a:pt x="0" y="1152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17" r="0" b="-20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69664" cy="1152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What proves it?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5187" y="7918323"/>
            <a:ext cx="16066770" cy="1006602"/>
            <a:chOff x="0" y="0"/>
            <a:chExt cx="21422360" cy="13421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422359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422359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1254593" y="0"/>
                  </a:lnTo>
                  <a:cubicBezTo>
                    <a:pt x="21347303" y="0"/>
                    <a:pt x="21422359" y="75057"/>
                    <a:pt x="21422359" y="167767"/>
                  </a:cubicBezTo>
                  <a:lnTo>
                    <a:pt x="21422359" y="1174369"/>
                  </a:lnTo>
                  <a:cubicBezTo>
                    <a:pt x="21422359" y="1267079"/>
                    <a:pt x="21347303" y="1342136"/>
                    <a:pt x="21254593" y="1342136"/>
                  </a:cubicBezTo>
                  <a:lnTo>
                    <a:pt x="167767" y="1342136"/>
                  </a:lnTo>
                  <a:cubicBezTo>
                    <a:pt x="75057" y="1342136"/>
                    <a:pt x="0" y="1267079"/>
                    <a:pt x="0" y="1174369"/>
                  </a:cubicBezTo>
                  <a:close/>
                </a:path>
              </a:pathLst>
            </a:custGeom>
            <a:solidFill>
              <a:srgbClr val="2A8FC4">
                <a:alpha val="1569"/>
              </a:srgbClr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08760" y="8119872"/>
            <a:ext cx="15224760" cy="466344"/>
            <a:chOff x="0" y="0"/>
            <a:chExt cx="20299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299680" cy="621792"/>
            </a:xfrm>
            <a:custGeom>
              <a:avLst/>
              <a:gdLst/>
              <a:ahLst/>
              <a:cxnLst/>
              <a:rect r="r" b="b" t="t" l="l"/>
              <a:pathLst>
                <a:path h="621792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129" r="0" b="-58612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2996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If you can map the workflow, AI can help execute it.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71827"/>
            </a:solidFill>
            <a:ln w="19050" cap="sq">
              <a:solidFill>
                <a:srgbClr val="0718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576072"/>
            <a:ext cx="4526280" cy="384048"/>
            <a:chOff x="0" y="0"/>
            <a:chExt cx="603504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035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D4A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TAKEAWAY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0392" y="1179576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4825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Orchestrate, don’t operate.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2084832"/>
            <a:ext cx="14813280" cy="493776"/>
            <a:chOff x="0" y="0"/>
            <a:chExt cx="19751040" cy="658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658368"/>
            </a:xfrm>
            <a:custGeom>
              <a:avLst/>
              <a:gdLst/>
              <a:ahLst/>
              <a:cxnLst/>
              <a:rect r="r" b="b" t="t" l="l"/>
              <a:pathLst>
                <a:path h="65836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751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The professional edge is judgement, workflow design and governance.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2347" y="2870835"/>
            <a:ext cx="4476750" cy="1280922"/>
            <a:chOff x="0" y="0"/>
            <a:chExt cx="5969000" cy="1707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00D4A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52347" y="2870835"/>
            <a:ext cx="128778" cy="1280922"/>
            <a:chOff x="0" y="0"/>
            <a:chExt cx="171704" cy="17078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63624" y="3086100"/>
            <a:ext cx="3881628" cy="411480"/>
            <a:chOff x="0" y="0"/>
            <a:chExt cx="5175504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Delegate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63624" y="3730752"/>
            <a:ext cx="3881628" cy="274320"/>
            <a:chOff x="0" y="0"/>
            <a:chExt cx="5175504" cy="365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Clear task briefs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07327" y="2870835"/>
            <a:ext cx="4476750" cy="1280922"/>
            <a:chOff x="0" y="0"/>
            <a:chExt cx="5969000" cy="1707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ECC7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07327" y="2870835"/>
            <a:ext cx="128778" cy="1280922"/>
            <a:chOff x="0" y="0"/>
            <a:chExt cx="171704" cy="1707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18604" y="3086100"/>
            <a:ext cx="3881628" cy="411480"/>
            <a:chOff x="0" y="0"/>
            <a:chExt cx="517550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18604" y="3730752"/>
            <a:ext cx="3881628" cy="274320"/>
            <a:chOff x="0" y="0"/>
            <a:chExt cx="5175504" cy="365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Sources + evidence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62307" y="2870835"/>
            <a:ext cx="4476750" cy="1280922"/>
            <a:chOff x="0" y="0"/>
            <a:chExt cx="5969000" cy="1707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2A8FC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362307" y="2870835"/>
            <a:ext cx="128778" cy="1280922"/>
            <a:chOff x="0" y="0"/>
            <a:chExt cx="171704" cy="1707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2A8FC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73584" y="3086100"/>
            <a:ext cx="3881628" cy="411480"/>
            <a:chOff x="0" y="0"/>
            <a:chExt cx="5175504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673584" y="3730752"/>
            <a:ext cx="3881628" cy="274320"/>
            <a:chOff x="0" y="0"/>
            <a:chExt cx="5175504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Workflow steps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2347" y="4763643"/>
            <a:ext cx="4476750" cy="1280922"/>
            <a:chOff x="0" y="0"/>
            <a:chExt cx="5969000" cy="1707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52347" y="4763643"/>
            <a:ext cx="128778" cy="1280922"/>
            <a:chOff x="0" y="0"/>
            <a:chExt cx="171704" cy="17078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F2B84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63624" y="4978908"/>
            <a:ext cx="3881628" cy="411480"/>
            <a:chOff x="0" y="0"/>
            <a:chExt cx="5175504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Govern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63624" y="5623560"/>
            <a:ext cx="3881628" cy="274320"/>
            <a:chOff x="0" y="0"/>
            <a:chExt cx="5175504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Boundaries + approvals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07327" y="4763643"/>
            <a:ext cx="4476750" cy="1280922"/>
            <a:chOff x="0" y="0"/>
            <a:chExt cx="5969000" cy="1707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8B6FD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07327" y="4763643"/>
            <a:ext cx="128778" cy="1280922"/>
            <a:chOff x="0" y="0"/>
            <a:chExt cx="171704" cy="17078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8B6FD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118604" y="4978908"/>
            <a:ext cx="3881628" cy="411480"/>
            <a:chOff x="0" y="0"/>
            <a:chExt cx="5175504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118604" y="5623560"/>
            <a:ext cx="3881628" cy="274320"/>
            <a:chOff x="0" y="0"/>
            <a:chExt cx="5175504" cy="365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Right model/tool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362307" y="4763643"/>
            <a:ext cx="4476750" cy="1280922"/>
            <a:chOff x="0" y="0"/>
            <a:chExt cx="5969000" cy="17078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69000" cy="1707896"/>
            </a:xfrm>
            <a:custGeom>
              <a:avLst/>
              <a:gdLst/>
              <a:ahLst/>
              <a:cxnLst/>
              <a:rect r="r" b="b" t="t" l="l"/>
              <a:pathLst>
                <a:path h="1707896" w="5969000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5783326" y="0"/>
                  </a:lnTo>
                  <a:cubicBezTo>
                    <a:pt x="5885942" y="0"/>
                    <a:pt x="5969000" y="83058"/>
                    <a:pt x="5969000" y="185674"/>
                  </a:cubicBezTo>
                  <a:lnTo>
                    <a:pt x="5969000" y="1522222"/>
                  </a:lnTo>
                  <a:cubicBezTo>
                    <a:pt x="5969000" y="1624711"/>
                    <a:pt x="5885942" y="1707896"/>
                    <a:pt x="5783326" y="1707896"/>
                  </a:cubicBezTo>
                  <a:lnTo>
                    <a:pt x="185674" y="1707896"/>
                  </a:lnTo>
                  <a:cubicBezTo>
                    <a:pt x="83058" y="1707896"/>
                    <a:pt x="0" y="1624838"/>
                    <a:pt x="0" y="1522222"/>
                  </a:cubicBezTo>
                  <a:close/>
                </a:path>
              </a:pathLst>
            </a:custGeom>
            <a:solidFill>
              <a:srgbClr val="0B2235"/>
            </a:solidFill>
            <a:ln w="19050" cap="sq">
              <a:solidFill>
                <a:srgbClr val="F0606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362307" y="4763643"/>
            <a:ext cx="128778" cy="1280922"/>
            <a:chOff x="0" y="0"/>
            <a:chExt cx="171704" cy="1707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1704" cy="1707896"/>
            </a:xfrm>
            <a:custGeom>
              <a:avLst/>
              <a:gdLst/>
              <a:ahLst/>
              <a:cxnLst/>
              <a:rect r="r" b="b" t="t" l="l"/>
              <a:pathLst>
                <a:path h="1707896" w="171704">
                  <a:moveTo>
                    <a:pt x="0" y="0"/>
                  </a:moveTo>
                  <a:lnTo>
                    <a:pt x="171704" y="0"/>
                  </a:lnTo>
                  <a:lnTo>
                    <a:pt x="171704" y="1707896"/>
                  </a:lnTo>
                  <a:lnTo>
                    <a:pt x="0" y="1707896"/>
                  </a:lnTo>
                  <a:close/>
                </a:path>
              </a:pathLst>
            </a:custGeom>
            <a:solidFill>
              <a:srgbClr val="F0606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73584" y="4978908"/>
            <a:ext cx="3881628" cy="411480"/>
            <a:chOff x="0" y="0"/>
            <a:chExt cx="5175504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75504" cy="548640"/>
            </a:xfrm>
            <a:custGeom>
              <a:avLst/>
              <a:gdLst/>
              <a:ahLst/>
              <a:cxnLst/>
              <a:rect r="r" b="b" t="t" l="l"/>
              <a:pathLst>
                <a:path h="54864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08" r="0" b="-13380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51755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Improve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673584" y="5623560"/>
            <a:ext cx="3881628" cy="274320"/>
            <a:chOff x="0" y="0"/>
            <a:chExt cx="5175504" cy="3657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75504" cy="365760"/>
            </a:xfrm>
            <a:custGeom>
              <a:avLst/>
              <a:gdLst/>
              <a:ahLst/>
              <a:cxnLst/>
              <a:rect r="r" b="b" t="t" l="l"/>
              <a:pathLst>
                <a:path h="36576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13" r="0" b="-2257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175504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E8EFF6"/>
                  </a:solidFill>
                  <a:latin typeface="Aptos"/>
                  <a:ea typeface="Aptos"/>
                  <a:cs typeface="Aptos"/>
                  <a:sym typeface="Aptos"/>
                </a:rPr>
                <a:t>Measure outcomes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36192" y="7434072"/>
            <a:ext cx="15087600" cy="548640"/>
            <a:chOff x="0" y="0"/>
            <a:chExt cx="201168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0116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is moving from conversation to coordination.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76072" y="9642348"/>
            <a:ext cx="6858000" cy="301752"/>
            <a:chOff x="0" y="0"/>
            <a:chExt cx="9144000" cy="4023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91440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C8498"/>
                  </a:solidFill>
                  <a:latin typeface="Aptos"/>
                  <a:ea typeface="Aptos"/>
                  <a:cs typeface="Aptos"/>
                  <a:sym typeface="Aptos"/>
                </a:rPr>
                <a:t>Nexius Labs • AI updates for future work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035272" y="9601200"/>
            <a:ext cx="617220" cy="329184"/>
            <a:chOff x="0" y="0"/>
            <a:chExt cx="822960" cy="4389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2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229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6C849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6F0E923EF43345BBEEFFF6B68069C1" ma:contentTypeVersion="13" ma:contentTypeDescription="Create a new document." ma:contentTypeScope="" ma:versionID="7b76ffdeeee35c58ed3b812407fff139">
  <xsd:schema xmlns:xsd="http://www.w3.org/2001/XMLSchema" xmlns:xs="http://www.w3.org/2001/XMLSchema" xmlns:p="http://schemas.microsoft.com/office/2006/metadata/properties" xmlns:ns2="5c8dfadc-7807-48cb-a32f-0886e7c8546a" xmlns:ns3="ff951595-ae20-4de2-b27f-dacc80e4443f" targetNamespace="http://schemas.microsoft.com/office/2006/metadata/properties" ma:root="true" ma:fieldsID="a5ac6775d19dfd2b9fd2330e2fc42b3f" ns2:_="" ns3:_="">
    <xsd:import namespace="5c8dfadc-7807-48cb-a32f-0886e7c8546a"/>
    <xsd:import namespace="ff951595-ae20-4de2-b27f-dacc80e444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dfadc-7807-48cb-a32f-0886e7c854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4df4eb9-44cc-4c92-890f-dc5bc88c1c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51595-ae20-4de2-b27f-dacc80e4443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e8d25b-0e68-4f87-bb57-1a44a9e6191c}" ma:internalName="TaxCatchAll" ma:showField="CatchAllData" ma:web="ff951595-ae20-4de2-b27f-dacc80e444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51595-ae20-4de2-b27f-dacc80e4443f" xsi:nil="true"/>
    <lcf76f155ced4ddcb4097134ff3c332f xmlns="5c8dfadc-7807-48cb-a32f-0886e7c854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2C80182-394A-465A-BCF5-5EA39E492B10}"/>
</file>

<file path=customXml/itemProps2.xml><?xml version="1.0" encoding="utf-8"?>
<ds:datastoreItem xmlns:ds="http://schemas.openxmlformats.org/officeDocument/2006/customXml" ds:itemID="{DA3ADBD5-1C13-46B9-8C65-369E2191DF46}"/>
</file>

<file path=customXml/itemProps3.xml><?xml version="1.0" encoding="utf-8"?>
<ds:datastoreItem xmlns:ds="http://schemas.openxmlformats.org/officeDocument/2006/customXml" ds:itemID="{7A773200-403C-40A5-BF65-682D92E7B50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AI_Updates_Since_Jan_2026_Work_Impact_READABLE.pptx</dc:title>
  <cp:revision>1</cp:revision>
  <dcterms:created xsi:type="dcterms:W3CDTF">2006-08-16T00:00:00Z</dcterms:created>
  <dcterms:modified xsi:type="dcterms:W3CDTF">2011-08-01T06:04:30Z</dcterms:modified>
  <dc:identifier>DAHND4s7tm4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0x010100746F0E923EF43345BBEEFFF6B68069C1</vt:lpwstr>
  </property>
</Properties>
</file>
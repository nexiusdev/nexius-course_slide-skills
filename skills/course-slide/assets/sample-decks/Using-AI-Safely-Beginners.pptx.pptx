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8"/>
    </p:embeddedFont>
    <p:embeddedFont>
      <p:font typeface="Calibri (MS) Bold Italics" charset="1" panose="020F07020304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Slide" Target="notesSlides/notesSlide2.xml"/><Relationship Id="rId39" Type="http://schemas.openxmlformats.org/officeDocument/2006/relationships/notesSlide" Target="notesSlides/notesSlide13.xml"/><Relationship Id="rId21" Type="http://schemas.openxmlformats.org/officeDocument/2006/relationships/notesMaster" Target="notesMasters/notesMaster1.xml"/><Relationship Id="rId34" Type="http://schemas.openxmlformats.org/officeDocument/2006/relationships/notesSlide" Target="notesSlides/notesSlide8.xml"/><Relationship Id="rId42" Type="http://schemas.openxmlformats.org/officeDocument/2006/relationships/customXml" Target="../customXml/item1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font" Target="fonts/font29.fntdata"/><Relationship Id="rId41" Type="http://schemas.openxmlformats.org/officeDocument/2006/relationships/notesSlide" Target="notesSlides/notes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32" Type="http://schemas.openxmlformats.org/officeDocument/2006/relationships/notesSlide" Target="notesSlides/notesSlide6.xml"/><Relationship Id="rId37" Type="http://schemas.openxmlformats.org/officeDocument/2006/relationships/notesSlide" Target="notesSlides/notesSlide11.xml"/><Relationship Id="rId40" Type="http://schemas.openxmlformats.org/officeDocument/2006/relationships/notesSlide" Target="notesSlides/notesSlide14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notesSlide" Target="notesSlides/notesSlide1.xml"/><Relationship Id="rId28" Type="http://schemas.openxmlformats.org/officeDocument/2006/relationships/font" Target="fonts/font28.fntdata"/><Relationship Id="rId36" Type="http://schemas.openxmlformats.org/officeDocument/2006/relationships/notesSlide" Target="notesSlides/notes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Slide" Target="notesSlides/notesSlide5.xml"/><Relationship Id="rId44" Type="http://schemas.openxmlformats.org/officeDocument/2006/relationships/customXml" Target="../customXml/item3.xml"/><Relationship Id="rId14" Type="http://schemas.openxmlformats.org/officeDocument/2006/relationships/slide" Target="slides/slide9.xml"/><Relationship Id="rId22" Type="http://schemas.openxmlformats.org/officeDocument/2006/relationships/theme" Target="theme/theme2.xml"/><Relationship Id="rId27" Type="http://schemas.openxmlformats.org/officeDocument/2006/relationships/notesSlide" Target="notesSlides/notesSlide3.xml"/><Relationship Id="rId30" Type="http://schemas.openxmlformats.org/officeDocument/2006/relationships/notesSlide" Target="notesSlides/notesSlide4.xml"/><Relationship Id="rId35" Type="http://schemas.openxmlformats.org/officeDocument/2006/relationships/notesSlide" Target="notesSlides/notes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43" Type="http://schemas.openxmlformats.org/officeDocument/2006/relationships/customXml" Target="../customXml/item2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5.fntdata"/><Relationship Id="rId33" Type="http://schemas.openxmlformats.org/officeDocument/2006/relationships/notesSlide" Target="notesSlides/notesSlide7.xml"/><Relationship Id="rId38" Type="http://schemas.openxmlformats.org/officeDocument/2006/relationships/notesSlide" Target="notesSlides/notesSlide12.xml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2.pn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23143" y="-1475737"/>
            <a:ext cx="8803643" cy="8803643"/>
            <a:chOff x="0" y="0"/>
            <a:chExt cx="11738191" cy="117381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310"/>
                    <a:pt x="0" y="5852160"/>
                  </a:cubicBezTo>
                  <a:close/>
                </a:path>
              </a:pathLst>
            </a:custGeom>
            <a:solidFill>
              <a:srgbClr val="00D4AA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38229" cy="11738102"/>
            </a:xfrm>
            <a:custGeom>
              <a:avLst/>
              <a:gdLst/>
              <a:ahLst/>
              <a:cxnLst/>
              <a:rect r="r" b="b" t="t" l="l"/>
              <a:pathLst>
                <a:path h="11738102" w="11738229">
                  <a:moveTo>
                    <a:pt x="0" y="5869051"/>
                  </a:moveTo>
                  <a:cubicBezTo>
                    <a:pt x="0" y="2627630"/>
                    <a:pt x="2627630" y="0"/>
                    <a:pt x="5869051" y="0"/>
                  </a:cubicBezTo>
                  <a:lnTo>
                    <a:pt x="5869051" y="16891"/>
                  </a:lnTo>
                  <a:lnTo>
                    <a:pt x="5869051" y="0"/>
                  </a:lnTo>
                  <a:cubicBezTo>
                    <a:pt x="9110472" y="0"/>
                    <a:pt x="11738229" y="2627630"/>
                    <a:pt x="11738229" y="5869051"/>
                  </a:cubicBezTo>
                  <a:lnTo>
                    <a:pt x="11721338" y="5869051"/>
                  </a:lnTo>
                  <a:lnTo>
                    <a:pt x="11738229" y="5869051"/>
                  </a:lnTo>
                  <a:cubicBezTo>
                    <a:pt x="11738229" y="9110472"/>
                    <a:pt x="9110600" y="11738102"/>
                    <a:pt x="5869178" y="11738102"/>
                  </a:cubicBezTo>
                  <a:lnTo>
                    <a:pt x="5869178" y="11721211"/>
                  </a:lnTo>
                  <a:lnTo>
                    <a:pt x="5869178" y="11738102"/>
                  </a:lnTo>
                  <a:cubicBezTo>
                    <a:pt x="2627630" y="11738229"/>
                    <a:pt x="0" y="9110472"/>
                    <a:pt x="0" y="5869051"/>
                  </a:cubicBezTo>
                  <a:lnTo>
                    <a:pt x="16891" y="586905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0" y="5869051"/>
                  </a:lnTo>
                  <a:moveTo>
                    <a:pt x="33909" y="5869051"/>
                  </a:moveTo>
                  <a:cubicBezTo>
                    <a:pt x="33909" y="5878449"/>
                    <a:pt x="26289" y="5885942"/>
                    <a:pt x="17018" y="5885942"/>
                  </a:cubicBezTo>
                  <a:cubicBezTo>
                    <a:pt x="7747" y="5885942"/>
                    <a:pt x="0" y="5878449"/>
                    <a:pt x="0" y="5869051"/>
                  </a:cubicBezTo>
                  <a:cubicBezTo>
                    <a:pt x="0" y="5859653"/>
                    <a:pt x="7620" y="5852160"/>
                    <a:pt x="16891" y="5852160"/>
                  </a:cubicBezTo>
                  <a:cubicBezTo>
                    <a:pt x="26162" y="5852160"/>
                    <a:pt x="33782" y="5859780"/>
                    <a:pt x="33782" y="5869051"/>
                  </a:cubicBezTo>
                  <a:cubicBezTo>
                    <a:pt x="33782" y="9091803"/>
                    <a:pt x="2646299" y="11704320"/>
                    <a:pt x="5869051" y="11704320"/>
                  </a:cubicBezTo>
                  <a:cubicBezTo>
                    <a:pt x="9091803" y="11704320"/>
                    <a:pt x="11704320" y="9091803"/>
                    <a:pt x="11704320" y="5869051"/>
                  </a:cubicBezTo>
                  <a:cubicBezTo>
                    <a:pt x="11704320" y="2646426"/>
                    <a:pt x="9091803" y="33909"/>
                    <a:pt x="5869051" y="33909"/>
                  </a:cubicBezTo>
                  <a:lnTo>
                    <a:pt x="5869051" y="16891"/>
                  </a:lnTo>
                  <a:lnTo>
                    <a:pt x="5869051" y="33909"/>
                  </a:lnTo>
                  <a:cubicBezTo>
                    <a:pt x="2646426" y="33909"/>
                    <a:pt x="33909" y="2646426"/>
                    <a:pt x="33909" y="5869051"/>
                  </a:cubicBezTo>
                  <a:close/>
                </a:path>
              </a:pathLst>
            </a:custGeom>
            <a:solidFill>
              <a:srgbClr val="00D4AA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927097" y="6936743"/>
            <a:ext cx="5511803" cy="5511803"/>
            <a:chOff x="0" y="0"/>
            <a:chExt cx="7349071" cy="7349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A6B9A">
                <a:alpha val="117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1A6B9A">
                <a:alpha val="117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768096"/>
            <a:ext cx="15544800" cy="640080"/>
            <a:chOff x="0" y="0"/>
            <a:chExt cx="207264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726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NEXIUS ACADEMY  ·  AGENTIC AI PROGRAMME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1920240"/>
            <a:ext cx="16093440" cy="4389120"/>
            <a:chOff x="0" y="0"/>
            <a:chExt cx="21457920" cy="5852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80975"/>
              <a:ext cx="21457920" cy="603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040"/>
                </a:lnSpc>
              </a:pPr>
              <a:r>
                <a:rPr lang="en-US" sz="9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Using AI</a:t>
              </a:r>
            </a:p>
            <a:p>
              <a:pPr algn="l">
                <a:lnSpc>
                  <a:spcPts val="11040"/>
                </a:lnSpc>
              </a:pPr>
              <a:r>
                <a:rPr lang="en-US" sz="92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6492240"/>
            <a:ext cx="15544800" cy="1097280"/>
            <a:chOff x="0" y="0"/>
            <a:chExt cx="207264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07264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beginner's guide to staying smart and protected when AI is everywhere.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7942583"/>
            <a:ext cx="4597403" cy="976379"/>
            <a:chOff x="0" y="0"/>
            <a:chExt cx="6129871" cy="1301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0960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096000">
                  <a:moveTo>
                    <a:pt x="0" y="195072"/>
                  </a:moveTo>
                  <a:cubicBezTo>
                    <a:pt x="0" y="87376"/>
                    <a:pt x="89154" y="0"/>
                    <a:pt x="199136" y="0"/>
                  </a:cubicBezTo>
                  <a:lnTo>
                    <a:pt x="5896864" y="0"/>
                  </a:lnTo>
                  <a:cubicBezTo>
                    <a:pt x="6006846" y="0"/>
                    <a:pt x="6096000" y="87376"/>
                    <a:pt x="6096000" y="195072"/>
                  </a:cubicBezTo>
                  <a:lnTo>
                    <a:pt x="6096000" y="1072896"/>
                  </a:lnTo>
                  <a:cubicBezTo>
                    <a:pt x="6096000" y="1180592"/>
                    <a:pt x="6006846" y="1267968"/>
                    <a:pt x="5896864" y="1267968"/>
                  </a:cubicBezTo>
                  <a:lnTo>
                    <a:pt x="199263" y="1267968"/>
                  </a:lnTo>
                  <a:cubicBezTo>
                    <a:pt x="89281" y="1267968"/>
                    <a:pt x="127" y="1180592"/>
                    <a:pt x="127" y="1072896"/>
                  </a:cubicBez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9909" cy="1301750"/>
            </a:xfrm>
            <a:custGeom>
              <a:avLst/>
              <a:gdLst/>
              <a:ahLst/>
              <a:cxnLst/>
              <a:rect r="r" b="b" t="t" l="l"/>
              <a:pathLst>
                <a:path h="1301750" w="6129909">
                  <a:moveTo>
                    <a:pt x="0" y="211963"/>
                  </a:moveTo>
                  <a:cubicBezTo>
                    <a:pt x="0" y="94615"/>
                    <a:pt x="97155" y="0"/>
                    <a:pt x="216154" y="0"/>
                  </a:cubicBezTo>
                  <a:lnTo>
                    <a:pt x="5913755" y="0"/>
                  </a:lnTo>
                  <a:lnTo>
                    <a:pt x="5913755" y="16891"/>
                  </a:lnTo>
                  <a:lnTo>
                    <a:pt x="5913755" y="0"/>
                  </a:lnTo>
                  <a:cubicBezTo>
                    <a:pt x="6032754" y="0"/>
                    <a:pt x="6129909" y="94615"/>
                    <a:pt x="6129909" y="211963"/>
                  </a:cubicBezTo>
                  <a:lnTo>
                    <a:pt x="6113018" y="211963"/>
                  </a:lnTo>
                  <a:lnTo>
                    <a:pt x="6129909" y="211963"/>
                  </a:lnTo>
                  <a:lnTo>
                    <a:pt x="6129909" y="1089787"/>
                  </a:lnTo>
                  <a:lnTo>
                    <a:pt x="6113018" y="1089787"/>
                  </a:lnTo>
                  <a:lnTo>
                    <a:pt x="6129909" y="1089787"/>
                  </a:lnTo>
                  <a:cubicBezTo>
                    <a:pt x="6129909" y="1207262"/>
                    <a:pt x="6032754" y="1301750"/>
                    <a:pt x="5913755" y="1301750"/>
                  </a:cubicBezTo>
                  <a:lnTo>
                    <a:pt x="5913755" y="1284859"/>
                  </a:lnTo>
                  <a:lnTo>
                    <a:pt x="5913755" y="1301750"/>
                  </a:lnTo>
                  <a:lnTo>
                    <a:pt x="216154" y="1301750"/>
                  </a:lnTo>
                  <a:lnTo>
                    <a:pt x="216154" y="1284859"/>
                  </a:lnTo>
                  <a:lnTo>
                    <a:pt x="216154" y="1301750"/>
                  </a:lnTo>
                  <a:cubicBezTo>
                    <a:pt x="97155" y="1301877"/>
                    <a:pt x="0" y="1207262"/>
                    <a:pt x="0" y="1089787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089787"/>
                  </a:lnTo>
                  <a:lnTo>
                    <a:pt x="16891" y="1089787"/>
                  </a:lnTo>
                  <a:lnTo>
                    <a:pt x="33909" y="1089787"/>
                  </a:lnTo>
                  <a:cubicBezTo>
                    <a:pt x="33909" y="1187831"/>
                    <a:pt x="115189" y="1267968"/>
                    <a:pt x="216154" y="1267968"/>
                  </a:cubicBezTo>
                  <a:lnTo>
                    <a:pt x="5913755" y="1267968"/>
                  </a:lnTo>
                  <a:cubicBezTo>
                    <a:pt x="6014720" y="1267968"/>
                    <a:pt x="6096000" y="1187831"/>
                    <a:pt x="6096000" y="1089787"/>
                  </a:cubicBezTo>
                  <a:lnTo>
                    <a:pt x="6096000" y="211963"/>
                  </a:lnTo>
                  <a:cubicBezTo>
                    <a:pt x="6096000" y="113919"/>
                    <a:pt x="6014720" y="33782"/>
                    <a:pt x="5913755" y="33782"/>
                  </a:cubicBezTo>
                  <a:lnTo>
                    <a:pt x="216154" y="33782"/>
                  </a:lnTo>
                  <a:lnTo>
                    <a:pt x="216154" y="16891"/>
                  </a:lnTo>
                  <a:lnTo>
                    <a:pt x="216154" y="33909"/>
                  </a:lnTo>
                  <a:cubicBezTo>
                    <a:pt x="115189" y="33909"/>
                    <a:pt x="33909" y="113919"/>
                    <a:pt x="33909" y="211963"/>
                  </a:cubicBezTo>
                  <a:close/>
                </a:path>
              </a:pathLst>
            </a:custGeom>
            <a:solidFill>
              <a:srgbClr val="008B7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7955280"/>
            <a:ext cx="4572000" cy="950976"/>
            <a:chOff x="0" y="0"/>
            <a:chExt cx="6096000" cy="1267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78" r="0" b="-436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0960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Nexius Academy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6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3732890"/>
                  </a:lnTo>
                  <a:cubicBezTo>
                    <a:pt x="277622" y="13742290"/>
                    <a:pt x="270002" y="13749782"/>
                    <a:pt x="2607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0731" y="13716000"/>
                  </a:lnTo>
                  <a:lnTo>
                    <a:pt x="260731" y="13732890"/>
                  </a:lnTo>
                  <a:lnTo>
                    <a:pt x="243840" y="13732890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618720" y="1463040"/>
            <a:ext cx="4937760" cy="4937760"/>
            <a:chOff x="0" y="0"/>
            <a:chExt cx="6583680" cy="658368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1645920"/>
            <a:ext cx="11887200" cy="6583680"/>
            <a:chOff x="0" y="0"/>
            <a:chExt cx="15849600" cy="877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4960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8778240"/>
                  </a:lnTo>
                  <a:lnTo>
                    <a:pt x="0" y="8778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060" t="0" r="-2106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19075"/>
              <a:ext cx="15849600" cy="8997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700 million</a:t>
              </a:r>
            </a:p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people now use AI</a:t>
              </a:r>
            </a:p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E8EF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 week.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697" y="9222743"/>
            <a:ext cx="18313403" cy="1076963"/>
            <a:chOff x="0" y="0"/>
            <a:chExt cx="24417871" cy="14359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4383999" cy="1402080"/>
            </a:xfrm>
            <a:custGeom>
              <a:avLst/>
              <a:gdLst/>
              <a:ahLst/>
              <a:cxnLst/>
              <a:rect r="r" b="b" t="t" l="l"/>
              <a:pathLst>
                <a:path h="14020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02080"/>
                  </a:lnTo>
                  <a:lnTo>
                    <a:pt x="0" y="1402080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17782" cy="1435862"/>
            </a:xfrm>
            <a:custGeom>
              <a:avLst/>
              <a:gdLst/>
              <a:ahLst/>
              <a:cxnLst/>
              <a:rect r="r" b="b" t="t" l="l"/>
              <a:pathLst>
                <a:path h="14358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418971"/>
                  </a:lnTo>
                  <a:cubicBezTo>
                    <a:pt x="24417782" y="1428369"/>
                    <a:pt x="24410163" y="1435862"/>
                    <a:pt x="24400890" y="1435862"/>
                  </a:cubicBezTo>
                  <a:lnTo>
                    <a:pt x="16891" y="1435862"/>
                  </a:lnTo>
                  <a:cubicBezTo>
                    <a:pt x="7493" y="1435862"/>
                    <a:pt x="0" y="1428242"/>
                    <a:pt x="0" y="1418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18971"/>
                  </a:lnTo>
                  <a:lnTo>
                    <a:pt x="16891" y="1418971"/>
                  </a:lnTo>
                  <a:lnTo>
                    <a:pt x="16891" y="1402080"/>
                  </a:lnTo>
                  <a:lnTo>
                    <a:pt x="24400890" y="1402080"/>
                  </a:lnTo>
                  <a:lnTo>
                    <a:pt x="24400890" y="1418971"/>
                  </a:lnTo>
                  <a:lnTo>
                    <a:pt x="24384000" y="14189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235440"/>
            <a:ext cx="17007840" cy="1051560"/>
            <a:chOff x="0" y="0"/>
            <a:chExt cx="22677120" cy="1402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1402080"/>
            </a:xfrm>
            <a:custGeom>
              <a:avLst/>
              <a:gdLst/>
              <a:ahLst/>
              <a:cxnLst/>
              <a:rect r="r" b="b" t="t" l="l"/>
              <a:pathLst>
                <a:path h="14020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02080"/>
                  </a:lnTo>
                  <a:lnTo>
                    <a:pt x="0" y="1402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149" r="0" b="-26514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677120" cy="1449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Knowing how to use AI safely is now a basic digital skill — like spotting a phishing email.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 PRINCIPLE — WHAT AI ACTUALLY 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103120"/>
            <a:ext cx="4023360" cy="4023360"/>
            <a:chOff x="0" y="0"/>
            <a:chExt cx="5364480" cy="536448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12080" y="2011680"/>
            <a:ext cx="12527280" cy="1828800"/>
            <a:chOff x="0" y="0"/>
            <a:chExt cx="16703040" cy="243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030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2" r="0" b="-83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47650"/>
              <a:ext cx="1670304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TOOL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12080" y="3877056"/>
            <a:ext cx="12527280" cy="822960"/>
            <a:chOff x="0" y="0"/>
            <a:chExt cx="167030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03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605" r="0" b="-2466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67030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i="true">
                  <a:solidFill>
                    <a:srgbClr val="00D4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 a teacher. Not a friend. Not a doctor.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99383" y="4833623"/>
            <a:ext cx="12552683" cy="1122683"/>
            <a:chOff x="0" y="0"/>
            <a:chExt cx="16736911" cy="14969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670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703040">
                  <a:moveTo>
                    <a:pt x="0" y="195072"/>
                  </a:moveTo>
                  <a:cubicBezTo>
                    <a:pt x="0" y="87376"/>
                    <a:pt x="89154" y="0"/>
                    <a:pt x="199136" y="0"/>
                  </a:cubicBezTo>
                  <a:lnTo>
                    <a:pt x="16503904" y="0"/>
                  </a:lnTo>
                  <a:cubicBezTo>
                    <a:pt x="16613886" y="0"/>
                    <a:pt x="16703040" y="87376"/>
                    <a:pt x="16703040" y="195072"/>
                  </a:cubicBezTo>
                  <a:lnTo>
                    <a:pt x="16703040" y="1267968"/>
                  </a:lnTo>
                  <a:cubicBezTo>
                    <a:pt x="16703040" y="1375664"/>
                    <a:pt x="16613886" y="1463040"/>
                    <a:pt x="16503904" y="1463040"/>
                  </a:cubicBezTo>
                  <a:lnTo>
                    <a:pt x="199263" y="1463040"/>
                  </a:lnTo>
                  <a:cubicBezTo>
                    <a:pt x="89281" y="1463040"/>
                    <a:pt x="127" y="1375664"/>
                    <a:pt x="127" y="1267968"/>
                  </a:cubicBezTo>
                  <a:close/>
                </a:path>
              </a:pathLst>
            </a:custGeom>
            <a:solidFill>
              <a:srgbClr val="00D4AA">
                <a:alpha val="7451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736949" cy="1496822"/>
            </a:xfrm>
            <a:custGeom>
              <a:avLst/>
              <a:gdLst/>
              <a:ahLst/>
              <a:cxnLst/>
              <a:rect r="r" b="b" t="t" l="l"/>
              <a:pathLst>
                <a:path h="1496822" w="16736949">
                  <a:moveTo>
                    <a:pt x="0" y="211963"/>
                  </a:moveTo>
                  <a:cubicBezTo>
                    <a:pt x="0" y="94615"/>
                    <a:pt x="97028" y="0"/>
                    <a:pt x="216154" y="0"/>
                  </a:cubicBezTo>
                  <a:lnTo>
                    <a:pt x="16520795" y="0"/>
                  </a:lnTo>
                  <a:lnTo>
                    <a:pt x="16520795" y="16891"/>
                  </a:lnTo>
                  <a:lnTo>
                    <a:pt x="16520795" y="0"/>
                  </a:lnTo>
                  <a:cubicBezTo>
                    <a:pt x="16639794" y="0"/>
                    <a:pt x="16736949" y="94615"/>
                    <a:pt x="16736949" y="211963"/>
                  </a:cubicBezTo>
                  <a:lnTo>
                    <a:pt x="16720058" y="211963"/>
                  </a:lnTo>
                  <a:lnTo>
                    <a:pt x="16736949" y="211963"/>
                  </a:lnTo>
                  <a:lnTo>
                    <a:pt x="16736949" y="1284859"/>
                  </a:lnTo>
                  <a:lnTo>
                    <a:pt x="16720058" y="1284859"/>
                  </a:lnTo>
                  <a:lnTo>
                    <a:pt x="16736949" y="1284859"/>
                  </a:lnTo>
                  <a:cubicBezTo>
                    <a:pt x="16736949" y="1402334"/>
                    <a:pt x="16639921" y="1496822"/>
                    <a:pt x="16520795" y="1496822"/>
                  </a:cubicBezTo>
                  <a:lnTo>
                    <a:pt x="16520795" y="1479931"/>
                  </a:lnTo>
                  <a:lnTo>
                    <a:pt x="16520795" y="1496822"/>
                  </a:lnTo>
                  <a:lnTo>
                    <a:pt x="216154" y="1496822"/>
                  </a:lnTo>
                  <a:lnTo>
                    <a:pt x="216154" y="1479931"/>
                  </a:lnTo>
                  <a:lnTo>
                    <a:pt x="216154" y="1496822"/>
                  </a:lnTo>
                  <a:cubicBezTo>
                    <a:pt x="97028" y="1496949"/>
                    <a:pt x="0" y="1402334"/>
                    <a:pt x="0" y="128485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284859"/>
                  </a:lnTo>
                  <a:lnTo>
                    <a:pt x="16891" y="1284859"/>
                  </a:lnTo>
                  <a:lnTo>
                    <a:pt x="33909" y="1284859"/>
                  </a:lnTo>
                  <a:cubicBezTo>
                    <a:pt x="33909" y="1382903"/>
                    <a:pt x="115189" y="1463040"/>
                    <a:pt x="216154" y="1463040"/>
                  </a:cubicBezTo>
                  <a:lnTo>
                    <a:pt x="16520795" y="1463040"/>
                  </a:lnTo>
                  <a:cubicBezTo>
                    <a:pt x="16621759" y="1463040"/>
                    <a:pt x="16703039" y="1382903"/>
                    <a:pt x="16703039" y="1284859"/>
                  </a:cubicBezTo>
                  <a:lnTo>
                    <a:pt x="16703039" y="211963"/>
                  </a:lnTo>
                  <a:cubicBezTo>
                    <a:pt x="16703039" y="113919"/>
                    <a:pt x="16621759" y="33782"/>
                    <a:pt x="16520795" y="33782"/>
                  </a:cubicBezTo>
                  <a:lnTo>
                    <a:pt x="216154" y="33782"/>
                  </a:lnTo>
                  <a:lnTo>
                    <a:pt x="216154" y="16891"/>
                  </a:lnTo>
                  <a:lnTo>
                    <a:pt x="216154" y="33909"/>
                  </a:lnTo>
                  <a:cubicBezTo>
                    <a:pt x="115189" y="33909"/>
                    <a:pt x="33909" y="113919"/>
                    <a:pt x="33909" y="211963"/>
                  </a:cubicBezTo>
                  <a:close/>
                </a:path>
              </a:pathLst>
            </a:custGeom>
            <a:solidFill>
              <a:srgbClr val="00D4AA">
                <a:alpha val="24706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12080" y="4846320"/>
            <a:ext cx="12527280" cy="1097280"/>
            <a:chOff x="0" y="0"/>
            <a:chExt cx="1670304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030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54" r="0" b="-1724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670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predicts words. It doesn't know things. It doesn't care about you.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6241799"/>
            <a:ext cx="17033243" cy="2860043"/>
            <a:chOff x="0" y="0"/>
            <a:chExt cx="22710991" cy="3813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2677119" cy="3779520"/>
            </a:xfrm>
            <a:custGeom>
              <a:avLst/>
              <a:gdLst/>
              <a:ahLst/>
              <a:cxnLst/>
              <a:rect r="r" b="b" t="t" l="l"/>
              <a:pathLst>
                <a:path h="37795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71090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796411"/>
                  </a:lnTo>
                  <a:cubicBezTo>
                    <a:pt x="22710902" y="3805809"/>
                    <a:pt x="22703282" y="3813302"/>
                    <a:pt x="22694010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694010" y="3779520"/>
                  </a:lnTo>
                  <a:lnTo>
                    <a:pt x="22694010" y="3796411"/>
                  </a:lnTo>
                  <a:lnTo>
                    <a:pt x="22677120" y="37964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6241799"/>
            <a:ext cx="171707" cy="2860043"/>
            <a:chOff x="0" y="0"/>
            <a:chExt cx="228943" cy="3813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95072" cy="3779520"/>
            </a:xfrm>
            <a:custGeom>
              <a:avLst/>
              <a:gdLst/>
              <a:ahLst/>
              <a:cxnLst/>
              <a:rect r="r" b="b" t="t" l="l"/>
              <a:pathLst>
                <a:path h="3779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854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796411"/>
                  </a:lnTo>
                  <a:cubicBezTo>
                    <a:pt x="228854" y="3805809"/>
                    <a:pt x="221234" y="3813302"/>
                    <a:pt x="211963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11963" y="3779520"/>
                  </a:lnTo>
                  <a:lnTo>
                    <a:pt x="211963" y="3796411"/>
                  </a:lnTo>
                  <a:lnTo>
                    <a:pt x="195072" y="3796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60704" y="6254496"/>
            <a:ext cx="16550640" cy="2834640"/>
            <a:chOff x="0" y="0"/>
            <a:chExt cx="22067520" cy="3779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67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2067520">
                  <a:moveTo>
                    <a:pt x="0" y="0"/>
                  </a:moveTo>
                  <a:lnTo>
                    <a:pt x="22067520" y="0"/>
                  </a:lnTo>
                  <a:lnTo>
                    <a:pt x="220675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67" r="0" b="-637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22067520" cy="3855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Treat AI like a very fast intern. Useful for first drafts. Confident-sounding. Sometimes wrong. Always needs review.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-12697" y="9460487"/>
            <a:ext cx="18313403" cy="839219"/>
            <a:chOff x="0" y="0"/>
            <a:chExt cx="24417871" cy="11189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4383999" cy="1085088"/>
            </a:xfrm>
            <a:custGeom>
              <a:avLst/>
              <a:gdLst/>
              <a:ahLst/>
              <a:cxnLst/>
              <a:rect r="r" b="b" t="t" l="l"/>
              <a:pathLst>
                <a:path h="10850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85088"/>
                  </a:lnTo>
                  <a:lnTo>
                    <a:pt x="0" y="1085088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17782" cy="1118872"/>
            </a:xfrm>
            <a:custGeom>
              <a:avLst/>
              <a:gdLst/>
              <a:ahLst/>
              <a:cxnLst/>
              <a:rect r="r" b="b" t="t" l="l"/>
              <a:pathLst>
                <a:path h="11188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01979"/>
                  </a:lnTo>
                  <a:cubicBezTo>
                    <a:pt x="24417782" y="1111377"/>
                    <a:pt x="24410163" y="1118870"/>
                    <a:pt x="24400890" y="1118870"/>
                  </a:cubicBezTo>
                  <a:lnTo>
                    <a:pt x="16891" y="1118870"/>
                  </a:lnTo>
                  <a:cubicBezTo>
                    <a:pt x="7620" y="1118997"/>
                    <a:pt x="0" y="1111377"/>
                    <a:pt x="0" y="1101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01979"/>
                  </a:lnTo>
                  <a:lnTo>
                    <a:pt x="16891" y="1101979"/>
                  </a:lnTo>
                  <a:lnTo>
                    <a:pt x="16891" y="1085088"/>
                  </a:lnTo>
                  <a:lnTo>
                    <a:pt x="24400890" y="1085088"/>
                  </a:lnTo>
                  <a:lnTo>
                    <a:pt x="24400890" y="1101979"/>
                  </a:lnTo>
                  <a:lnTo>
                    <a:pt x="24384000" y="11019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" y="9473184"/>
            <a:ext cx="17007840" cy="813816"/>
            <a:chOff x="0" y="0"/>
            <a:chExt cx="22677120" cy="10850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677120" cy="1085088"/>
            </a:xfrm>
            <a:custGeom>
              <a:avLst/>
              <a:gdLst/>
              <a:ahLst/>
              <a:cxnLst/>
              <a:rect r="r" b="b" t="t" l="l"/>
              <a:pathLst>
                <a:path h="10850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85088"/>
                  </a:lnTo>
                  <a:lnTo>
                    <a:pt x="0" y="1085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215" r="0" b="-3572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2677120" cy="1132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i="true">
                  <a:solidFill>
                    <a:srgbClr val="0D1B2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Keep that mental model. Everything else in this deck flows from it.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SIX THINGS THAT CAN GO WRONG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658368"/>
            <a:chOff x="0" y="0"/>
            <a:chExt cx="2292096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877824"/>
            </a:xfrm>
            <a:custGeom>
              <a:avLst/>
              <a:gdLst/>
              <a:ahLst/>
              <a:cxnLst/>
              <a:rect r="r" b="b" t="t" l="l"/>
              <a:pathLst>
                <a:path h="8778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risks every AI user should know about.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639063"/>
            <a:ext cx="5511803" cy="3408683"/>
            <a:chOff x="0" y="0"/>
            <a:chExt cx="7349071" cy="4544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639063"/>
            <a:ext cx="5511803" cy="125987"/>
            <a:chOff x="0" y="0"/>
            <a:chExt cx="7349071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3291840"/>
            <a:ext cx="1554480" cy="1554480"/>
            <a:chOff x="0" y="0"/>
            <a:chExt cx="2072640" cy="207264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51760" y="3017520"/>
            <a:ext cx="3200400" cy="914400"/>
            <a:chOff x="0" y="0"/>
            <a:chExt cx="426720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26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leak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51760" y="3931920"/>
            <a:ext cx="3200400" cy="1920240"/>
            <a:chOff x="0" y="0"/>
            <a:chExt cx="4267200" cy="2560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6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4267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you paste may be stored or seen.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96663" y="2639063"/>
            <a:ext cx="5511803" cy="3408683"/>
            <a:chOff x="0" y="0"/>
            <a:chExt cx="7349071" cy="45449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2470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296663" y="2639063"/>
            <a:ext cx="5511803" cy="125987"/>
            <a:chOff x="0" y="0"/>
            <a:chExt cx="7349071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75120" y="3291840"/>
            <a:ext cx="1554480" cy="1554480"/>
            <a:chOff x="0" y="0"/>
            <a:chExt cx="2072640" cy="207264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412480" y="3017520"/>
            <a:ext cx="3200400" cy="914400"/>
            <a:chOff x="0" y="0"/>
            <a:chExt cx="4267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426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Made-up facts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412480" y="3931920"/>
            <a:ext cx="3200400" cy="1920240"/>
            <a:chOff x="0" y="0"/>
            <a:chExt cx="4267200" cy="25603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267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confidently invents wrong answers.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57383" y="2639063"/>
            <a:ext cx="5511803" cy="3408683"/>
            <a:chOff x="0" y="0"/>
            <a:chExt cx="7349071" cy="45449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>
                <a:alpha val="24706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57383" y="2639063"/>
            <a:ext cx="5511803" cy="125987"/>
            <a:chOff x="0" y="0"/>
            <a:chExt cx="7349071" cy="1679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5EA7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435840" y="3291840"/>
            <a:ext cx="1554480" cy="1554480"/>
            <a:chOff x="0" y="0"/>
            <a:chExt cx="2072640" cy="207264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173200" y="3017520"/>
            <a:ext cx="3200400" cy="914400"/>
            <a:chOff x="0" y="0"/>
            <a:chExt cx="426720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426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Bad advice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173200" y="3931920"/>
            <a:ext cx="3200400" cy="1920240"/>
            <a:chOff x="0" y="0"/>
            <a:chExt cx="4267200" cy="2560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4267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Medical, legal, financial — risky territory.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35943" y="6296663"/>
            <a:ext cx="5511803" cy="3408683"/>
            <a:chOff x="0" y="0"/>
            <a:chExt cx="7349071" cy="4544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832">
                <a:alpha val="24706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35943" y="6296663"/>
            <a:ext cx="5511803" cy="125987"/>
            <a:chOff x="0" y="0"/>
            <a:chExt cx="7349071" cy="16798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7832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832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6949440"/>
            <a:ext cx="1554480" cy="1554480"/>
            <a:chOff x="0" y="0"/>
            <a:chExt cx="2072640" cy="207264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651760" y="6675120"/>
            <a:ext cx="3200400" cy="914400"/>
            <a:chOff x="0" y="0"/>
            <a:chExt cx="426720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426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Phishing &amp; scams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651760" y="7589520"/>
            <a:ext cx="3200400" cy="1920240"/>
            <a:chOff x="0" y="0"/>
            <a:chExt cx="4267200" cy="25603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6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4267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writes convincing fake emails and texts.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296663" y="6296663"/>
            <a:ext cx="5511803" cy="3408683"/>
            <a:chOff x="0" y="0"/>
            <a:chExt cx="7349071" cy="45449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>
                <a:alpha val="24706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296663" y="6296663"/>
            <a:ext cx="5511803" cy="125987"/>
            <a:chOff x="0" y="0"/>
            <a:chExt cx="7349071" cy="16798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675120" y="6949440"/>
            <a:ext cx="1554480" cy="1554480"/>
            <a:chOff x="0" y="0"/>
            <a:chExt cx="2072640" cy="207264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412480" y="6675120"/>
            <a:ext cx="3200400" cy="914400"/>
            <a:chOff x="0" y="0"/>
            <a:chExt cx="426720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426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Deepfakes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412480" y="7589520"/>
            <a:ext cx="3200400" cy="1920240"/>
            <a:chOff x="0" y="0"/>
            <a:chExt cx="4267200" cy="25603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26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4267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Voice and video clones of real people.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057383" y="6296663"/>
            <a:ext cx="5511803" cy="3408683"/>
            <a:chOff x="0" y="0"/>
            <a:chExt cx="7349071" cy="45449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73152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4898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527931"/>
                  </a:lnTo>
                  <a:cubicBezTo>
                    <a:pt x="7348982" y="4537329"/>
                    <a:pt x="7341362" y="4544822"/>
                    <a:pt x="733209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332091" y="4511040"/>
                  </a:lnTo>
                  <a:lnTo>
                    <a:pt x="7332091" y="4527931"/>
                  </a:lnTo>
                  <a:lnTo>
                    <a:pt x="7315200" y="45279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>
                <a:alpha val="24706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057383" y="6296663"/>
            <a:ext cx="5511803" cy="125987"/>
            <a:chOff x="0" y="0"/>
            <a:chExt cx="7349071" cy="16798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35840" y="6949440"/>
            <a:ext cx="1554480" cy="1554480"/>
            <a:chOff x="0" y="0"/>
            <a:chExt cx="2072640" cy="2072640"/>
          </a:xfrm>
        </p:grpSpPr>
        <p:sp>
          <p:nvSpPr>
            <p:cNvPr name="Freeform 91" id="91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173200" y="6675120"/>
            <a:ext cx="3200400" cy="914400"/>
            <a:chOff x="0" y="0"/>
            <a:chExt cx="426720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4267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Over-reliance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173200" y="7589520"/>
            <a:ext cx="3200400" cy="1920240"/>
            <a:chOff x="0" y="0"/>
            <a:chExt cx="4267200" cy="25603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2672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4267200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Forgetting how to think for yourself.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40080" y="9729216"/>
            <a:ext cx="17007840" cy="557784"/>
            <a:chOff x="0" y="0"/>
            <a:chExt cx="22677120" cy="7437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677120" cy="743712"/>
            </a:xfrm>
            <a:custGeom>
              <a:avLst/>
              <a:gdLst/>
              <a:ahLst/>
              <a:cxnLst/>
              <a:rect r="r" b="b" t="t" l="l"/>
              <a:pathLst>
                <a:path h="74371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133" r="0" b="-54413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2677120" cy="7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We'll cover how to handle each one. Three simple habits do most of the work.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6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3732890"/>
                  </a:lnTo>
                  <a:cubicBezTo>
                    <a:pt x="277622" y="13742290"/>
                    <a:pt x="270002" y="13749782"/>
                    <a:pt x="2607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0731" y="13716000"/>
                  </a:lnTo>
                  <a:lnTo>
                    <a:pt x="260731" y="13732890"/>
                  </a:lnTo>
                  <a:lnTo>
                    <a:pt x="243840" y="13732890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863840" cy="9509760"/>
            <a:chOff x="0" y="0"/>
            <a:chExt cx="10485120" cy="12679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12679680"/>
            </a:xfrm>
            <a:custGeom>
              <a:avLst/>
              <a:gdLst/>
              <a:ahLst/>
              <a:cxnLst/>
              <a:rect r="r" b="b" t="t" l="l"/>
              <a:pathLst>
                <a:path h="12679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679680"/>
                  </a:lnTo>
                  <a:lnTo>
                    <a:pt x="0" y="12679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57" t="0" r="-10515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23925"/>
              <a:ext cx="10485120" cy="13603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2800"/>
                </a:lnSpc>
              </a:pPr>
              <a:r>
                <a:rPr lang="en-US" sz="44000" b="true">
                  <a:solidFill>
                    <a:srgbClr val="12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743200"/>
            <a:ext cx="10058400" cy="694944"/>
            <a:chOff x="0" y="0"/>
            <a:chExt cx="1341120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020" r="0" b="-2320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411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600">
                  <a:solidFill>
                    <a:srgbClr val="1A6B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HABIT ONE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566160"/>
            <a:ext cx="11887200" cy="4206240"/>
            <a:chOff x="0" y="0"/>
            <a:chExt cx="15849600" cy="560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496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15849600" cy="579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</a:t>
              </a:r>
            </a:p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1A6B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Data.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7498080"/>
            <a:ext cx="11887200" cy="1188720"/>
            <a:chOff x="0" y="0"/>
            <a:chExt cx="1584960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5849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Once you paste it, you can't unpaste it. Decide before you type.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TO NEVER PASTE INTO AI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658368"/>
            <a:chOff x="0" y="0"/>
            <a:chExt cx="2292096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877824"/>
            </a:xfrm>
            <a:custGeom>
              <a:avLst/>
              <a:gdLst/>
              <a:ahLst/>
              <a:cxnLst/>
              <a:rect r="r" b="b" t="t" l="l"/>
              <a:pathLst>
                <a:path h="8778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If you wouldn't share it with a stranger, don't share it with AI.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730503"/>
            <a:ext cx="5511803" cy="3134363"/>
            <a:chOff x="0" y="0"/>
            <a:chExt cx="7349071" cy="4179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162171"/>
                  </a:lnTo>
                  <a:cubicBezTo>
                    <a:pt x="7348982" y="4171569"/>
                    <a:pt x="7341362" y="4179062"/>
                    <a:pt x="73320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332091" y="4145280"/>
                  </a:lnTo>
                  <a:lnTo>
                    <a:pt x="7332091" y="4162171"/>
                  </a:lnTo>
                  <a:lnTo>
                    <a:pt x="7315200" y="4162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48627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730503"/>
            <a:ext cx="5511803" cy="125987"/>
            <a:chOff x="0" y="0"/>
            <a:chExt cx="7349071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029200" y="3017520"/>
            <a:ext cx="640080" cy="640080"/>
            <a:chOff x="0" y="0"/>
            <a:chExt cx="853440" cy="85344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3474720"/>
            <a:ext cx="1554480" cy="1554480"/>
            <a:chOff x="0" y="0"/>
            <a:chExt cx="2072640" cy="207264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43200" y="3657600"/>
            <a:ext cx="3108960" cy="1280160"/>
            <a:chOff x="0" y="0"/>
            <a:chExt cx="4145280" cy="1706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5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4145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Passwords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96663" y="2730503"/>
            <a:ext cx="5511803" cy="3134363"/>
            <a:chOff x="0" y="0"/>
            <a:chExt cx="7349071" cy="4179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3152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89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162171"/>
                  </a:lnTo>
                  <a:cubicBezTo>
                    <a:pt x="7348982" y="4171569"/>
                    <a:pt x="7341362" y="4179062"/>
                    <a:pt x="73320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332091" y="4145280"/>
                  </a:lnTo>
                  <a:lnTo>
                    <a:pt x="7332091" y="4162171"/>
                  </a:lnTo>
                  <a:lnTo>
                    <a:pt x="7315200" y="4162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48627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296663" y="2730503"/>
            <a:ext cx="5511803" cy="125987"/>
            <a:chOff x="0" y="0"/>
            <a:chExt cx="7349071" cy="1679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789920" y="3017520"/>
            <a:ext cx="640080" cy="640080"/>
            <a:chOff x="0" y="0"/>
            <a:chExt cx="853440" cy="85344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66560" y="3474720"/>
            <a:ext cx="1554480" cy="1554480"/>
            <a:chOff x="0" y="0"/>
            <a:chExt cx="2072640" cy="207264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503920" y="3657600"/>
            <a:ext cx="3108960" cy="1280160"/>
            <a:chOff x="0" y="0"/>
            <a:chExt cx="4145280" cy="1706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45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4145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 numbers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57383" y="2730503"/>
            <a:ext cx="5511803" cy="3134363"/>
            <a:chOff x="0" y="0"/>
            <a:chExt cx="7349071" cy="41791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3152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489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162171"/>
                  </a:lnTo>
                  <a:cubicBezTo>
                    <a:pt x="7348982" y="4171569"/>
                    <a:pt x="7341362" y="4179062"/>
                    <a:pt x="73320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332091" y="4145280"/>
                  </a:lnTo>
                  <a:lnTo>
                    <a:pt x="7332091" y="4162171"/>
                  </a:lnTo>
                  <a:lnTo>
                    <a:pt x="7315200" y="4162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48627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057383" y="2730503"/>
            <a:ext cx="5511803" cy="125987"/>
            <a:chOff x="0" y="0"/>
            <a:chExt cx="7349071" cy="167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6550640" y="3017520"/>
            <a:ext cx="640080" cy="640080"/>
            <a:chOff x="0" y="0"/>
            <a:chExt cx="853440" cy="85344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527280" y="3474720"/>
            <a:ext cx="1554480" cy="1554480"/>
            <a:chOff x="0" y="0"/>
            <a:chExt cx="2072640" cy="207264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264640" y="3657600"/>
            <a:ext cx="3108960" cy="1280160"/>
            <a:chOff x="0" y="0"/>
            <a:chExt cx="4145280" cy="1706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45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4145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Bank details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5943" y="6113783"/>
            <a:ext cx="5511803" cy="3134363"/>
            <a:chOff x="0" y="0"/>
            <a:chExt cx="7349071" cy="41791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3152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489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162171"/>
                  </a:lnTo>
                  <a:cubicBezTo>
                    <a:pt x="7348982" y="4171569"/>
                    <a:pt x="7341362" y="4179062"/>
                    <a:pt x="73320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332091" y="4145280"/>
                  </a:lnTo>
                  <a:lnTo>
                    <a:pt x="7332091" y="4162171"/>
                  </a:lnTo>
                  <a:lnTo>
                    <a:pt x="7315200" y="4162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48627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35943" y="6113783"/>
            <a:ext cx="5511803" cy="125987"/>
            <a:chOff x="0" y="0"/>
            <a:chExt cx="7349071" cy="1679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029200" y="6400800"/>
            <a:ext cx="640080" cy="640080"/>
            <a:chOff x="0" y="0"/>
            <a:chExt cx="853440" cy="85344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5840" y="6858000"/>
            <a:ext cx="1554480" cy="1554480"/>
            <a:chOff x="0" y="0"/>
            <a:chExt cx="2072640" cy="2072640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743200" y="7040880"/>
            <a:ext cx="3108960" cy="1280160"/>
            <a:chOff x="0" y="0"/>
            <a:chExt cx="4145280" cy="1706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45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4145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info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296663" y="6113783"/>
            <a:ext cx="5511803" cy="3134363"/>
            <a:chOff x="0" y="0"/>
            <a:chExt cx="7349071" cy="417915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3152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489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162171"/>
                  </a:lnTo>
                  <a:cubicBezTo>
                    <a:pt x="7348982" y="4171569"/>
                    <a:pt x="7341362" y="4179062"/>
                    <a:pt x="73320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332091" y="4145280"/>
                  </a:lnTo>
                  <a:lnTo>
                    <a:pt x="7332091" y="4162171"/>
                  </a:lnTo>
                  <a:lnTo>
                    <a:pt x="7315200" y="4162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48627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296663" y="6113783"/>
            <a:ext cx="5511803" cy="125987"/>
            <a:chOff x="0" y="0"/>
            <a:chExt cx="7349071" cy="16798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789920" y="6400800"/>
            <a:ext cx="640080" cy="640080"/>
            <a:chOff x="0" y="0"/>
            <a:chExt cx="853440" cy="85344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766560" y="6858000"/>
            <a:ext cx="1554480" cy="1554480"/>
            <a:chOff x="0" y="0"/>
            <a:chExt cx="2072640" cy="207264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503920" y="7040880"/>
            <a:ext cx="3108960" cy="1280160"/>
            <a:chOff x="0" y="0"/>
            <a:chExt cx="4145280" cy="17068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145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4145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data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057383" y="6113783"/>
            <a:ext cx="5511803" cy="3134363"/>
            <a:chOff x="0" y="0"/>
            <a:chExt cx="7349071" cy="41791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73152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489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162171"/>
                  </a:lnTo>
                  <a:cubicBezTo>
                    <a:pt x="7348982" y="4171569"/>
                    <a:pt x="7341362" y="4179062"/>
                    <a:pt x="73320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332091" y="4145280"/>
                  </a:lnTo>
                  <a:lnTo>
                    <a:pt x="7332091" y="4162171"/>
                  </a:lnTo>
                  <a:lnTo>
                    <a:pt x="7315200" y="4162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48627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057383" y="6113783"/>
            <a:ext cx="5511803" cy="125987"/>
            <a:chOff x="0" y="0"/>
            <a:chExt cx="7349071" cy="16798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7315200" cy="134112"/>
            </a:xfrm>
            <a:custGeom>
              <a:avLst/>
              <a:gdLst/>
              <a:ahLst/>
              <a:cxnLst/>
              <a:rect r="r" b="b" t="t" l="l"/>
              <a:pathLst>
                <a:path h="13411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48982" cy="167896"/>
            </a:xfrm>
            <a:custGeom>
              <a:avLst/>
              <a:gdLst/>
              <a:ahLst/>
              <a:cxnLst/>
              <a:rect r="r" b="b" t="t" l="l"/>
              <a:pathLst>
                <a:path h="16789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51003"/>
                  </a:lnTo>
                  <a:cubicBezTo>
                    <a:pt x="7348982" y="160401"/>
                    <a:pt x="7341362" y="167894"/>
                    <a:pt x="73320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332091" y="134112"/>
                  </a:lnTo>
                  <a:lnTo>
                    <a:pt x="7332091" y="151003"/>
                  </a:lnTo>
                  <a:lnTo>
                    <a:pt x="7315200" y="15100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6550640" y="6400800"/>
            <a:ext cx="640080" cy="640080"/>
            <a:chOff x="0" y="0"/>
            <a:chExt cx="853440" cy="853440"/>
          </a:xfrm>
        </p:grpSpPr>
        <p:sp>
          <p:nvSpPr>
            <p:cNvPr name="Freeform 86" id="86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527280" y="6858000"/>
            <a:ext cx="1554480" cy="1554480"/>
            <a:chOff x="0" y="0"/>
            <a:chExt cx="2072640" cy="2072640"/>
          </a:xfrm>
        </p:grpSpPr>
        <p:sp>
          <p:nvSpPr>
            <p:cNvPr name="Freeform 88" id="88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264640" y="7040880"/>
            <a:ext cx="3108960" cy="1280160"/>
            <a:chOff x="0" y="0"/>
            <a:chExt cx="4145280" cy="17068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45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30" t="0" r="-283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41452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Trade secrets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-12697" y="9716519"/>
            <a:ext cx="18313403" cy="583187"/>
            <a:chOff x="0" y="0"/>
            <a:chExt cx="24417871" cy="77758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4383999" cy="743712"/>
            </a:xfrm>
            <a:custGeom>
              <a:avLst/>
              <a:gdLst/>
              <a:ahLst/>
              <a:cxnLst/>
              <a:rect r="r" b="b" t="t" l="l"/>
              <a:pathLst>
                <a:path h="7437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43712"/>
                  </a:lnTo>
                  <a:lnTo>
                    <a:pt x="0" y="743712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417782" cy="777496"/>
            </a:xfrm>
            <a:custGeom>
              <a:avLst/>
              <a:gdLst/>
              <a:ahLst/>
              <a:cxnLst/>
              <a:rect r="r" b="b" t="t" l="l"/>
              <a:pathLst>
                <a:path h="7774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760603"/>
                  </a:lnTo>
                  <a:cubicBezTo>
                    <a:pt x="24417782" y="770001"/>
                    <a:pt x="24410163" y="777494"/>
                    <a:pt x="24400890" y="777494"/>
                  </a:cubicBezTo>
                  <a:lnTo>
                    <a:pt x="16891" y="777494"/>
                  </a:lnTo>
                  <a:cubicBezTo>
                    <a:pt x="7620" y="777621"/>
                    <a:pt x="0" y="770001"/>
                    <a:pt x="0" y="760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60603"/>
                  </a:lnTo>
                  <a:lnTo>
                    <a:pt x="16891" y="760603"/>
                  </a:lnTo>
                  <a:lnTo>
                    <a:pt x="16891" y="743712"/>
                  </a:lnTo>
                  <a:lnTo>
                    <a:pt x="24400890" y="743712"/>
                  </a:lnTo>
                  <a:lnTo>
                    <a:pt x="24400890" y="760603"/>
                  </a:lnTo>
                  <a:lnTo>
                    <a:pt x="24384000" y="7606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40080" y="9729216"/>
            <a:ext cx="17007840" cy="557784"/>
            <a:chOff x="0" y="0"/>
            <a:chExt cx="22677120" cy="7437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677120" cy="743712"/>
            </a:xfrm>
            <a:custGeom>
              <a:avLst/>
              <a:gdLst/>
              <a:ahLst/>
              <a:cxnLst/>
              <a:rect r="r" b="b" t="t" l="l"/>
              <a:pathLst>
                <a:path h="74371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43712"/>
                  </a:lnTo>
                  <a:lnTo>
                    <a:pt x="0" y="743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133" r="0" b="-54413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2677120" cy="7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Once entered, this data can be stored, reviewed, or trained on. You can't take it back.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USUALLY SAFE TO SHARE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658368"/>
            <a:chOff x="0" y="0"/>
            <a:chExt cx="2292096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877824"/>
            </a:xfrm>
            <a:custGeom>
              <a:avLst/>
              <a:gdLst/>
              <a:ahLst/>
              <a:cxnLst/>
              <a:rect r="r" b="b" t="t" l="l"/>
              <a:pathLst>
                <a:path h="8778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Common tasks where AI saves real time, with low risk.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821943"/>
            <a:ext cx="5420363" cy="6517643"/>
            <a:chOff x="0" y="0"/>
            <a:chExt cx="7227151" cy="86901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8690101"/>
            </a:xfrm>
            <a:custGeom>
              <a:avLst/>
              <a:gdLst/>
              <a:ahLst/>
              <a:cxnLst/>
              <a:rect r="r" b="b" t="t" l="l"/>
              <a:pathLst>
                <a:path h="86901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673211"/>
                  </a:lnTo>
                  <a:cubicBezTo>
                    <a:pt x="7227062" y="8682609"/>
                    <a:pt x="7219442" y="8690101"/>
                    <a:pt x="7210172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210172" y="8656320"/>
                  </a:lnTo>
                  <a:lnTo>
                    <a:pt x="7210172" y="8673211"/>
                  </a:lnTo>
                  <a:lnTo>
                    <a:pt x="7193280" y="86732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821943"/>
            <a:ext cx="5420363" cy="125987"/>
            <a:chOff x="0" y="0"/>
            <a:chExt cx="7227151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86000" y="3383280"/>
            <a:ext cx="1920240" cy="1920240"/>
            <a:chOff x="0" y="0"/>
            <a:chExt cx="2560320" cy="256032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12080" y="3108960"/>
            <a:ext cx="585216" cy="585216"/>
            <a:chOff x="0" y="0"/>
            <a:chExt cx="780288" cy="78028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68096" y="5577840"/>
            <a:ext cx="4974336" cy="1097280"/>
            <a:chOff x="0" y="0"/>
            <a:chExt cx="6632448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324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632448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 questions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8096" y="6858000"/>
            <a:ext cx="4974336" cy="2194560"/>
            <a:chOff x="0" y="0"/>
            <a:chExt cx="6632448" cy="2926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3244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632448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"How do I write a polite follow-up email?"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24679" y="2821943"/>
            <a:ext cx="5420363" cy="6517643"/>
            <a:chOff x="0" y="0"/>
            <a:chExt cx="7227151" cy="86901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719328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27062" cy="8690101"/>
            </a:xfrm>
            <a:custGeom>
              <a:avLst/>
              <a:gdLst/>
              <a:ahLst/>
              <a:cxnLst/>
              <a:rect r="r" b="b" t="t" l="l"/>
              <a:pathLst>
                <a:path h="86901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673211"/>
                  </a:lnTo>
                  <a:cubicBezTo>
                    <a:pt x="7227062" y="8682609"/>
                    <a:pt x="7219442" y="8690101"/>
                    <a:pt x="7210172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210172" y="8656320"/>
                  </a:lnTo>
                  <a:lnTo>
                    <a:pt x="7210172" y="8673211"/>
                  </a:lnTo>
                  <a:lnTo>
                    <a:pt x="7193280" y="86732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>
                <a:alpha val="24706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424679" y="2821943"/>
            <a:ext cx="5420363" cy="125987"/>
            <a:chOff x="0" y="0"/>
            <a:chExt cx="7227151" cy="1679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174736" y="3383280"/>
            <a:ext cx="1920240" cy="1920240"/>
            <a:chOff x="0" y="0"/>
            <a:chExt cx="2560320" cy="256032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100816" y="3108960"/>
            <a:ext cx="585216" cy="585216"/>
            <a:chOff x="0" y="0"/>
            <a:chExt cx="780288" cy="78028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56832" y="5577840"/>
            <a:ext cx="4974336" cy="1097280"/>
            <a:chOff x="0" y="0"/>
            <a:chExt cx="6632448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324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6632448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Writing help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56832" y="6858000"/>
            <a:ext cx="4974336" cy="2194560"/>
            <a:chOff x="0" y="0"/>
            <a:chExt cx="6632448" cy="2926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3244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6632448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Drafts, edits, summaries of public content.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13415" y="2821943"/>
            <a:ext cx="5420363" cy="6517643"/>
            <a:chOff x="0" y="0"/>
            <a:chExt cx="7227151" cy="86901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719328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27062" cy="8690101"/>
            </a:xfrm>
            <a:custGeom>
              <a:avLst/>
              <a:gdLst/>
              <a:ahLst/>
              <a:cxnLst/>
              <a:rect r="r" b="b" t="t" l="l"/>
              <a:pathLst>
                <a:path h="86901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673211"/>
                  </a:lnTo>
                  <a:cubicBezTo>
                    <a:pt x="7227062" y="8682609"/>
                    <a:pt x="7219442" y="8690101"/>
                    <a:pt x="7210172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210172" y="8656320"/>
                  </a:lnTo>
                  <a:lnTo>
                    <a:pt x="7210172" y="8673211"/>
                  </a:lnTo>
                  <a:lnTo>
                    <a:pt x="7193280" y="86732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>
                <a:alpha val="24706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13415" y="2821943"/>
            <a:ext cx="5420363" cy="125987"/>
            <a:chOff x="0" y="0"/>
            <a:chExt cx="7227151" cy="1679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063472" y="3383280"/>
            <a:ext cx="1920240" cy="1920240"/>
            <a:chOff x="0" y="0"/>
            <a:chExt cx="2560320" cy="256032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989552" y="3108960"/>
            <a:ext cx="585216" cy="585216"/>
            <a:chOff x="0" y="0"/>
            <a:chExt cx="780288" cy="780288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45568" y="5577840"/>
            <a:ext cx="4974336" cy="1097280"/>
            <a:chOff x="0" y="0"/>
            <a:chExt cx="6632448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324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6632448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&amp; ideas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45568" y="6858000"/>
            <a:ext cx="4974336" cy="2194560"/>
            <a:chOff x="0" y="0"/>
            <a:chExt cx="6632448" cy="2926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32448" cy="2926080"/>
            </a:xfrm>
            <a:custGeom>
              <a:avLst/>
              <a:gdLst/>
              <a:ahLst/>
              <a:cxnLst/>
              <a:rect r="r" b="b" t="t" l="l"/>
              <a:pathLst>
                <a:path h="292608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6632448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"Explain X like I'm new to it." Brainstorming.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12697" y="9460487"/>
            <a:ext cx="18313403" cy="839219"/>
            <a:chOff x="0" y="0"/>
            <a:chExt cx="24417871" cy="11189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4383999" cy="1085088"/>
            </a:xfrm>
            <a:custGeom>
              <a:avLst/>
              <a:gdLst/>
              <a:ahLst/>
              <a:cxnLst/>
              <a:rect r="r" b="b" t="t" l="l"/>
              <a:pathLst>
                <a:path h="10850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85088"/>
                  </a:lnTo>
                  <a:lnTo>
                    <a:pt x="0" y="1085088"/>
                  </a:lnTo>
                  <a:close/>
                </a:path>
              </a:pathLst>
            </a:custGeom>
            <a:solidFill>
              <a:srgbClr val="2ECC71">
                <a:alpha val="3922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417782" cy="1118872"/>
            </a:xfrm>
            <a:custGeom>
              <a:avLst/>
              <a:gdLst/>
              <a:ahLst/>
              <a:cxnLst/>
              <a:rect r="r" b="b" t="t" l="l"/>
              <a:pathLst>
                <a:path h="11188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01979"/>
                  </a:lnTo>
                  <a:cubicBezTo>
                    <a:pt x="24417782" y="1111377"/>
                    <a:pt x="24410163" y="1118870"/>
                    <a:pt x="24400890" y="1118870"/>
                  </a:cubicBezTo>
                  <a:lnTo>
                    <a:pt x="16891" y="1118870"/>
                  </a:lnTo>
                  <a:cubicBezTo>
                    <a:pt x="7620" y="1118997"/>
                    <a:pt x="0" y="1111377"/>
                    <a:pt x="0" y="1101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01979"/>
                  </a:lnTo>
                  <a:lnTo>
                    <a:pt x="16891" y="1101979"/>
                  </a:lnTo>
                  <a:lnTo>
                    <a:pt x="16891" y="1085088"/>
                  </a:lnTo>
                  <a:lnTo>
                    <a:pt x="24400890" y="1085088"/>
                  </a:lnTo>
                  <a:lnTo>
                    <a:pt x="24400890" y="1101979"/>
                  </a:lnTo>
                  <a:lnTo>
                    <a:pt x="24384000" y="11019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>
                <a:alpha val="3922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9473184"/>
            <a:ext cx="17007840" cy="813816"/>
            <a:chOff x="0" y="0"/>
            <a:chExt cx="22677120" cy="10850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77120" cy="1085088"/>
            </a:xfrm>
            <a:custGeom>
              <a:avLst/>
              <a:gdLst/>
              <a:ahLst/>
              <a:cxnLst/>
              <a:rect r="r" b="b" t="t" l="l"/>
              <a:pathLst>
                <a:path h="10850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85088"/>
                  </a:lnTo>
                  <a:lnTo>
                    <a:pt x="0" y="1085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215" r="0" b="-3572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2677120" cy="1132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i="true">
                  <a:solidFill>
                    <a:srgbClr val="0D1B2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Still — change names and remove specifics. AI doesn't need to know it was your boss.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6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3732890"/>
                  </a:lnTo>
                  <a:cubicBezTo>
                    <a:pt x="277622" y="13742290"/>
                    <a:pt x="270002" y="13749782"/>
                    <a:pt x="2607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0731" y="13716000"/>
                  </a:lnTo>
                  <a:lnTo>
                    <a:pt x="260731" y="13732890"/>
                  </a:lnTo>
                  <a:lnTo>
                    <a:pt x="243840" y="13732890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863840" cy="9509760"/>
            <a:chOff x="0" y="0"/>
            <a:chExt cx="10485120" cy="12679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12679680"/>
            </a:xfrm>
            <a:custGeom>
              <a:avLst/>
              <a:gdLst/>
              <a:ahLst/>
              <a:cxnLst/>
              <a:rect r="r" b="b" t="t" l="l"/>
              <a:pathLst>
                <a:path h="12679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679680"/>
                  </a:lnTo>
                  <a:lnTo>
                    <a:pt x="0" y="12679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57" t="0" r="-10515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23925"/>
              <a:ext cx="10485120" cy="13603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2800"/>
                </a:lnSpc>
              </a:pPr>
              <a:r>
                <a:rPr lang="en-US" sz="44000" b="true">
                  <a:solidFill>
                    <a:srgbClr val="12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743200"/>
            <a:ext cx="10058400" cy="694944"/>
            <a:chOff x="0" y="0"/>
            <a:chExt cx="1341120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020" r="0" b="-2320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411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600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HABIT TWO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566160"/>
            <a:ext cx="11887200" cy="4206240"/>
            <a:chOff x="0" y="0"/>
            <a:chExt cx="15849600" cy="560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496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15849600" cy="579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</a:t>
              </a:r>
            </a:p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Answer.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7498080"/>
            <a:ext cx="11887200" cy="1188720"/>
            <a:chOff x="0" y="0"/>
            <a:chExt cx="15849600" cy="1584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5849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sounds confident even when it's making things up. Verify before you act.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6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3732890"/>
                  </a:lnTo>
                  <a:cubicBezTo>
                    <a:pt x="277622" y="13742290"/>
                    <a:pt x="270002" y="13749782"/>
                    <a:pt x="2607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0731" y="13716000"/>
                  </a:lnTo>
                  <a:lnTo>
                    <a:pt x="260731" y="13732890"/>
                  </a:lnTo>
                  <a:lnTo>
                    <a:pt x="243840" y="13732890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28016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sounds right.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560320"/>
            <a:ext cx="16459200" cy="1280160"/>
            <a:chOff x="0" y="0"/>
            <a:chExt cx="219456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That doesn't mean it is right.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7463" y="4559303"/>
            <a:ext cx="15753083" cy="4048763"/>
            <a:chOff x="0" y="0"/>
            <a:chExt cx="21004111" cy="5398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0970239" cy="5364480"/>
            </a:xfrm>
            <a:custGeom>
              <a:avLst/>
              <a:gdLst/>
              <a:ahLst/>
              <a:cxnLst/>
              <a:rect r="r" b="b" t="t" l="l"/>
              <a:pathLst>
                <a:path h="53644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04022" cy="5398262"/>
            </a:xfrm>
            <a:custGeom>
              <a:avLst/>
              <a:gdLst/>
              <a:ahLst/>
              <a:cxnLst/>
              <a:rect r="r" b="b" t="t" l="l"/>
              <a:pathLst>
                <a:path h="5398262" w="21004022">
                  <a:moveTo>
                    <a:pt x="16891" y="0"/>
                  </a:moveTo>
                  <a:lnTo>
                    <a:pt x="20987130" y="0"/>
                  </a:lnTo>
                  <a:cubicBezTo>
                    <a:pt x="20996529" y="0"/>
                    <a:pt x="21004022" y="7620"/>
                    <a:pt x="21004022" y="16891"/>
                  </a:cubicBezTo>
                  <a:lnTo>
                    <a:pt x="21004022" y="5381371"/>
                  </a:lnTo>
                  <a:cubicBezTo>
                    <a:pt x="21004022" y="5390769"/>
                    <a:pt x="20996402" y="5398262"/>
                    <a:pt x="20987130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20987130" y="5364480"/>
                  </a:lnTo>
                  <a:lnTo>
                    <a:pt x="20987130" y="5381371"/>
                  </a:lnTo>
                  <a:lnTo>
                    <a:pt x="20970239" y="5381371"/>
                  </a:lnTo>
                  <a:lnTo>
                    <a:pt x="20970239" y="16891"/>
                  </a:lnTo>
                  <a:lnTo>
                    <a:pt x="20987130" y="16891"/>
                  </a:lnTo>
                  <a:lnTo>
                    <a:pt x="209871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7463" y="4559303"/>
            <a:ext cx="171707" cy="4048763"/>
            <a:chOff x="0" y="0"/>
            <a:chExt cx="228943" cy="5398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5364480"/>
            </a:xfrm>
            <a:custGeom>
              <a:avLst/>
              <a:gdLst/>
              <a:ahLst/>
              <a:cxnLst/>
              <a:rect r="r" b="b" t="t" l="l"/>
              <a:pathLst>
                <a:path h="536448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5398262"/>
            </a:xfrm>
            <a:custGeom>
              <a:avLst/>
              <a:gdLst/>
              <a:ahLst/>
              <a:cxnLst/>
              <a:rect r="r" b="b" t="t" l="l"/>
              <a:pathLst>
                <a:path h="539826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5381371"/>
                  </a:lnTo>
                  <a:cubicBezTo>
                    <a:pt x="228854" y="5390769"/>
                    <a:pt x="221234" y="5398262"/>
                    <a:pt x="211963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211963" y="5364480"/>
                  </a:lnTo>
                  <a:lnTo>
                    <a:pt x="211963" y="5381371"/>
                  </a:lnTo>
                  <a:lnTo>
                    <a:pt x="195072" y="538137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37360" y="4754880"/>
            <a:ext cx="16459200" cy="548640"/>
            <a:chOff x="0" y="0"/>
            <a:chExt cx="21945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37360" y="5394960"/>
            <a:ext cx="14996160" cy="3108960"/>
            <a:chOff x="0" y="0"/>
            <a:chExt cx="19994880" cy="4145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9948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4145280"/>
                  </a:lnTo>
                  <a:lnTo>
                    <a:pt x="0" y="4145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86" r="0" b="-439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9994880" cy="4211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8FA3B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You: </a:t>
              </a:r>
              <a:r>
                <a:rPr lang="en-US" sz="30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"When did the company X launch product Y?"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AI: </a:t>
              </a:r>
              <a:r>
                <a:rPr lang="en-US" sz="30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"In March 2023, company X launched Y with great fanfare..."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Reality: </a:t>
              </a:r>
              <a:r>
                <a:rPr lang="en-US" sz="2799" i="true">
                  <a:solidFill>
                    <a:srgbClr val="E0525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product never existed. AI invented a confident lie.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2697" y="9222743"/>
            <a:ext cx="18313403" cy="1076963"/>
            <a:chOff x="0" y="0"/>
            <a:chExt cx="24417871" cy="1435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4383999" cy="1402080"/>
            </a:xfrm>
            <a:custGeom>
              <a:avLst/>
              <a:gdLst/>
              <a:ahLst/>
              <a:cxnLst/>
              <a:rect r="r" b="b" t="t" l="l"/>
              <a:pathLst>
                <a:path h="14020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02080"/>
                  </a:lnTo>
                  <a:lnTo>
                    <a:pt x="0" y="1402080"/>
                  </a:lnTo>
                  <a:close/>
                </a:path>
              </a:pathLst>
            </a:custGeom>
            <a:solidFill>
              <a:srgbClr val="E8A838">
                <a:alpha val="392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17782" cy="1435862"/>
            </a:xfrm>
            <a:custGeom>
              <a:avLst/>
              <a:gdLst/>
              <a:ahLst/>
              <a:cxnLst/>
              <a:rect r="r" b="b" t="t" l="l"/>
              <a:pathLst>
                <a:path h="14358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418971"/>
                  </a:lnTo>
                  <a:cubicBezTo>
                    <a:pt x="24417782" y="1428369"/>
                    <a:pt x="24410163" y="1435862"/>
                    <a:pt x="24400890" y="1435862"/>
                  </a:cubicBezTo>
                  <a:lnTo>
                    <a:pt x="16891" y="1435862"/>
                  </a:lnTo>
                  <a:cubicBezTo>
                    <a:pt x="7493" y="1435862"/>
                    <a:pt x="0" y="1428242"/>
                    <a:pt x="0" y="1418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18971"/>
                  </a:lnTo>
                  <a:lnTo>
                    <a:pt x="16891" y="1418971"/>
                  </a:lnTo>
                  <a:lnTo>
                    <a:pt x="16891" y="1402080"/>
                  </a:lnTo>
                  <a:lnTo>
                    <a:pt x="24400890" y="1402080"/>
                  </a:lnTo>
                  <a:lnTo>
                    <a:pt x="24400890" y="1418971"/>
                  </a:lnTo>
                  <a:lnTo>
                    <a:pt x="24384000" y="14189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9235440"/>
            <a:ext cx="17007840" cy="1051560"/>
            <a:chOff x="0" y="0"/>
            <a:chExt cx="22677120" cy="1402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77120" cy="1402080"/>
            </a:xfrm>
            <a:custGeom>
              <a:avLst/>
              <a:gdLst/>
              <a:ahLst/>
              <a:cxnLst/>
              <a:rect r="r" b="b" t="t" l="l"/>
              <a:pathLst>
                <a:path h="14020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02080"/>
                  </a:lnTo>
                  <a:lnTo>
                    <a:pt x="0" y="140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49" r="0" b="-2651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2677120" cy="1449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is called a hallucination. It happens daily. The fix is one habit: verify.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THREE-QUESTION VERIFICATION HABIT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62407"/>
            <a:ext cx="17216123" cy="1214123"/>
            <a:chOff x="0" y="0"/>
            <a:chExt cx="22954831" cy="1618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601851"/>
                  </a:lnTo>
                  <a:cubicBezTo>
                    <a:pt x="22954743" y="1611249"/>
                    <a:pt x="22947123" y="1618742"/>
                    <a:pt x="2293785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937851" y="1584960"/>
                  </a:lnTo>
                  <a:lnTo>
                    <a:pt x="22937851" y="1601851"/>
                  </a:lnTo>
                  <a:lnTo>
                    <a:pt x="22920961" y="160185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2470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962407"/>
            <a:ext cx="153419" cy="1214123"/>
            <a:chOff x="0" y="0"/>
            <a:chExt cx="204559" cy="16188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1618742"/>
            </a:xfrm>
            <a:custGeom>
              <a:avLst/>
              <a:gdLst/>
              <a:ahLst/>
              <a:cxnLst/>
              <a:rect r="r" b="b" t="t" l="l"/>
              <a:pathLst>
                <a:path h="16187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601851"/>
                  </a:lnTo>
                  <a:cubicBezTo>
                    <a:pt x="204470" y="1611249"/>
                    <a:pt x="196850" y="1618742"/>
                    <a:pt x="187579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87579" y="1584960"/>
                  </a:lnTo>
                  <a:lnTo>
                    <a:pt x="187579" y="1601851"/>
                  </a:lnTo>
                  <a:lnTo>
                    <a:pt x="170688" y="1601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011680"/>
            <a:ext cx="16550640" cy="1097280"/>
            <a:chOff x="0" y="0"/>
            <a:chExt cx="2206752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6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067520">
                  <a:moveTo>
                    <a:pt x="0" y="0"/>
                  </a:moveTo>
                  <a:lnTo>
                    <a:pt x="22067520" y="0"/>
                  </a:lnTo>
                  <a:lnTo>
                    <a:pt x="2206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899" r="0" b="-24389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0675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you act on what AI tells you — ask these three.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943" y="3553463"/>
            <a:ext cx="5420363" cy="5877563"/>
            <a:chOff x="0" y="0"/>
            <a:chExt cx="7227151" cy="78367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193281" cy="7802881"/>
            </a:xfrm>
            <a:custGeom>
              <a:avLst/>
              <a:gdLst/>
              <a:ahLst/>
              <a:cxnLst/>
              <a:rect r="r" b="b" t="t" l="l"/>
              <a:pathLst>
                <a:path h="78028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706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7819772"/>
                  </a:lnTo>
                  <a:cubicBezTo>
                    <a:pt x="7227062" y="7829169"/>
                    <a:pt x="7219442" y="7836662"/>
                    <a:pt x="7210172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7210172" y="7802880"/>
                  </a:lnTo>
                  <a:lnTo>
                    <a:pt x="7210172" y="7819772"/>
                  </a:lnTo>
                  <a:lnTo>
                    <a:pt x="7193280" y="78197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>
                <a:alpha val="2470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5943" y="3553463"/>
            <a:ext cx="5420363" cy="125987"/>
            <a:chOff x="0" y="0"/>
            <a:chExt cx="7227151" cy="167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0263" y="3827783"/>
            <a:ext cx="939803" cy="939803"/>
            <a:chOff x="0" y="0"/>
            <a:chExt cx="1253071" cy="12530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3840480"/>
            <a:ext cx="914400" cy="914400"/>
            <a:chOff x="0" y="0"/>
            <a:chExt cx="12192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68880" y="3840480"/>
            <a:ext cx="1554480" cy="1554480"/>
            <a:chOff x="0" y="0"/>
            <a:chExt cx="2072640" cy="207264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8096" y="5669280"/>
            <a:ext cx="4974336" cy="1097280"/>
            <a:chOff x="0" y="0"/>
            <a:chExt cx="6632448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324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6632448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 I verify this?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68096" y="6912864"/>
            <a:ext cx="4974336" cy="2377440"/>
            <a:chOff x="0" y="0"/>
            <a:chExt cx="6632448" cy="3169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32448" cy="3169920"/>
            </a:xfrm>
            <a:custGeom>
              <a:avLst/>
              <a:gdLst/>
              <a:ahLst/>
              <a:cxnLst/>
              <a:rect r="r" b="b" t="t" l="l"/>
              <a:pathLst>
                <a:path h="31699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1" t="0" r="-1132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632448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 a trusted source. Search the original article. Look at the official site.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24679" y="3553463"/>
            <a:ext cx="5420363" cy="5877563"/>
            <a:chOff x="0" y="0"/>
            <a:chExt cx="7227151" cy="78367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193281" cy="7802881"/>
            </a:xfrm>
            <a:custGeom>
              <a:avLst/>
              <a:gdLst/>
              <a:ahLst/>
              <a:cxnLst/>
              <a:rect r="r" b="b" t="t" l="l"/>
              <a:pathLst>
                <a:path h="78028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2706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7819772"/>
                  </a:lnTo>
                  <a:cubicBezTo>
                    <a:pt x="7227062" y="7829169"/>
                    <a:pt x="7219442" y="7836662"/>
                    <a:pt x="7210172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7210172" y="7802880"/>
                  </a:lnTo>
                  <a:lnTo>
                    <a:pt x="7210172" y="7819772"/>
                  </a:lnTo>
                  <a:lnTo>
                    <a:pt x="7193280" y="78197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24706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24679" y="3553463"/>
            <a:ext cx="5420363" cy="125987"/>
            <a:chOff x="0" y="0"/>
            <a:chExt cx="7227151" cy="167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698999" y="3827783"/>
            <a:ext cx="939803" cy="939803"/>
            <a:chOff x="0" y="0"/>
            <a:chExt cx="1253071" cy="12530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711696" y="3840480"/>
            <a:ext cx="914400" cy="914400"/>
            <a:chOff x="0" y="0"/>
            <a:chExt cx="121920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357616" y="3840480"/>
            <a:ext cx="1554480" cy="1554480"/>
            <a:chOff x="0" y="0"/>
            <a:chExt cx="2072640" cy="207264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656832" y="5669280"/>
            <a:ext cx="4974336" cy="1097280"/>
            <a:chOff x="0" y="0"/>
            <a:chExt cx="6632448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324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6632448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Does this sound too neat?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656832" y="6912864"/>
            <a:ext cx="4974336" cy="2377440"/>
            <a:chOff x="0" y="0"/>
            <a:chExt cx="6632448" cy="31699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32448" cy="3169920"/>
            </a:xfrm>
            <a:custGeom>
              <a:avLst/>
              <a:gdLst/>
              <a:ahLst/>
              <a:cxnLst/>
              <a:rect r="r" b="b" t="t" l="l"/>
              <a:pathLst>
                <a:path h="31699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1" t="0" r="-1132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632448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Made-up facts often feel suspiciously specific. Real data is messier.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13415" y="3553463"/>
            <a:ext cx="5420363" cy="5877563"/>
            <a:chOff x="0" y="0"/>
            <a:chExt cx="7227151" cy="78367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7193281" cy="7802881"/>
            </a:xfrm>
            <a:custGeom>
              <a:avLst/>
              <a:gdLst/>
              <a:ahLst/>
              <a:cxnLst/>
              <a:rect r="r" b="b" t="t" l="l"/>
              <a:pathLst>
                <a:path h="780288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227062" cy="7836662"/>
            </a:xfrm>
            <a:custGeom>
              <a:avLst/>
              <a:gdLst/>
              <a:ahLst/>
              <a:cxnLst/>
              <a:rect r="r" b="b" t="t" l="l"/>
              <a:pathLst>
                <a:path h="78366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7819772"/>
                  </a:lnTo>
                  <a:cubicBezTo>
                    <a:pt x="7227062" y="7829169"/>
                    <a:pt x="7219442" y="7836662"/>
                    <a:pt x="7210172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7210172" y="7802880"/>
                  </a:lnTo>
                  <a:lnTo>
                    <a:pt x="7210172" y="7819772"/>
                  </a:lnTo>
                  <a:lnTo>
                    <a:pt x="7193280" y="7819772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>
                <a:alpha val="24706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313415" y="3553463"/>
            <a:ext cx="5420363" cy="125987"/>
            <a:chOff x="0" y="0"/>
            <a:chExt cx="7227151" cy="1679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5EA7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587735" y="3827783"/>
            <a:ext cx="939803" cy="939803"/>
            <a:chOff x="0" y="0"/>
            <a:chExt cx="1253071" cy="125307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B5EA7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7B5EA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600432" y="3840480"/>
            <a:ext cx="914400" cy="914400"/>
            <a:chOff x="0" y="0"/>
            <a:chExt cx="121920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246352" y="3840480"/>
            <a:ext cx="1554480" cy="1554480"/>
            <a:chOff x="0" y="0"/>
            <a:chExt cx="2072640" cy="207264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545568" y="5669280"/>
            <a:ext cx="4974336" cy="1097280"/>
            <a:chOff x="0" y="0"/>
            <a:chExt cx="6632448" cy="14630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32448" cy="1463040"/>
            </a:xfrm>
            <a:custGeom>
              <a:avLst/>
              <a:gdLst/>
              <a:ahLst/>
              <a:cxnLst/>
              <a:rect r="r" b="b" t="t" l="l"/>
              <a:pathLst>
                <a:path h="146304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6632448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Does this affect a decision?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45568" y="6912864"/>
            <a:ext cx="4974336" cy="2377440"/>
            <a:chOff x="0" y="0"/>
            <a:chExt cx="6632448" cy="31699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32448" cy="3169920"/>
            </a:xfrm>
            <a:custGeom>
              <a:avLst/>
              <a:gdLst/>
              <a:ahLst/>
              <a:cxnLst/>
              <a:rect r="r" b="b" t="t" l="l"/>
              <a:pathLst>
                <a:path h="316992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21" t="0" r="-1132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632448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stakes = more verification. Medical, legal, financial — talk to a real person.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A838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3922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0080" y="9601200"/>
            <a:ext cx="17007840" cy="685800"/>
            <a:chOff x="0" y="0"/>
            <a:chExt cx="2267712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677120" cy="914400"/>
            </a:xfrm>
            <a:custGeom>
              <a:avLst/>
              <a:gdLst/>
              <a:ahLst/>
              <a:cxnLst/>
              <a:rect r="r" b="b" t="t" l="l"/>
              <a:pathLst>
                <a:path h="914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228" r="0" b="-43322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22677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i="true">
                  <a:solidFill>
                    <a:srgbClr val="0D1B2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Three quick questions. Saves you from a lot of bad decisions.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08283" cy="10312403"/>
            <a:chOff x="0" y="0"/>
            <a:chExt cx="2777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6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3732890"/>
                  </a:lnTo>
                  <a:cubicBezTo>
                    <a:pt x="277622" y="13742290"/>
                    <a:pt x="270002" y="13749782"/>
                    <a:pt x="2607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0731" y="13716000"/>
                  </a:lnTo>
                  <a:lnTo>
                    <a:pt x="260731" y="13732890"/>
                  </a:lnTo>
                  <a:lnTo>
                    <a:pt x="243840" y="13732890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863840" cy="9509760"/>
            <a:chOff x="0" y="0"/>
            <a:chExt cx="10485120" cy="12679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12679680"/>
            </a:xfrm>
            <a:custGeom>
              <a:avLst/>
              <a:gdLst/>
              <a:ahLst/>
              <a:cxnLst/>
              <a:rect r="r" b="b" t="t" l="l"/>
              <a:pathLst>
                <a:path h="12679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679680"/>
                  </a:lnTo>
                  <a:lnTo>
                    <a:pt x="0" y="12679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157" t="0" r="-105157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23925"/>
              <a:ext cx="10485120" cy="13603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2800"/>
                </a:lnSpc>
              </a:pPr>
              <a:r>
                <a:rPr lang="en-US" sz="44000" b="true">
                  <a:solidFill>
                    <a:srgbClr val="122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743200"/>
            <a:ext cx="10058400" cy="694944"/>
            <a:chOff x="0" y="0"/>
            <a:chExt cx="1341120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020" r="0" b="-2320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411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600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HABIT THREE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566160"/>
            <a:ext cx="11887200" cy="4206240"/>
            <a:chOff x="0" y="0"/>
            <a:chExt cx="15849600" cy="560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496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15849600" cy="579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Spot</a:t>
              </a:r>
            </a:p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Scams.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7498080"/>
            <a:ext cx="11887200" cy="1280160"/>
            <a:chOff x="0" y="0"/>
            <a:chExt cx="1584960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58496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made phishing 4x more effective. The boss who calls might not be the boss.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NEW SCAMS — POWERED BY AI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658368"/>
            <a:chOff x="0" y="0"/>
            <a:chExt cx="2292096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877824"/>
            </a:xfrm>
            <a:custGeom>
              <a:avLst/>
              <a:gdLst/>
              <a:ahLst/>
              <a:cxnLst/>
              <a:rect r="r" b="b" t="t" l="l"/>
              <a:pathLst>
                <a:path h="8778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These didn't exist five years ago. They're everywhere now.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821943"/>
            <a:ext cx="5420363" cy="6517643"/>
            <a:chOff x="0" y="0"/>
            <a:chExt cx="7227151" cy="86901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8690101"/>
            </a:xfrm>
            <a:custGeom>
              <a:avLst/>
              <a:gdLst/>
              <a:ahLst/>
              <a:cxnLst/>
              <a:rect r="r" b="b" t="t" l="l"/>
              <a:pathLst>
                <a:path h="86901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673211"/>
                  </a:lnTo>
                  <a:cubicBezTo>
                    <a:pt x="7227062" y="8682609"/>
                    <a:pt x="7219442" y="8690101"/>
                    <a:pt x="7210172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210172" y="8656320"/>
                  </a:lnTo>
                  <a:lnTo>
                    <a:pt x="7210172" y="8673211"/>
                  </a:lnTo>
                  <a:lnTo>
                    <a:pt x="7193280" y="86732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821943"/>
            <a:ext cx="5420363" cy="125987"/>
            <a:chOff x="0" y="0"/>
            <a:chExt cx="7227151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86000" y="3383280"/>
            <a:ext cx="1920240" cy="1920240"/>
            <a:chOff x="0" y="0"/>
            <a:chExt cx="2560320" cy="256032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68096" y="5577840"/>
            <a:ext cx="4974336" cy="914400"/>
            <a:chOff x="0" y="0"/>
            <a:chExt cx="6632448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324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98" r="0" b="-559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663244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phishing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8096" y="6675120"/>
            <a:ext cx="4974336" cy="2560320"/>
            <a:chOff x="0" y="0"/>
            <a:chExt cx="6632448" cy="3413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324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38" t="0" r="-1603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632448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Personalised emails that mention your real job, projects, and colleagues. No grammar mistakes.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24679" y="2821943"/>
            <a:ext cx="5420363" cy="6517643"/>
            <a:chOff x="0" y="0"/>
            <a:chExt cx="7227151" cy="86901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19328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27062" cy="8690101"/>
            </a:xfrm>
            <a:custGeom>
              <a:avLst/>
              <a:gdLst/>
              <a:ahLst/>
              <a:cxnLst/>
              <a:rect r="r" b="b" t="t" l="l"/>
              <a:pathLst>
                <a:path h="86901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673211"/>
                  </a:lnTo>
                  <a:cubicBezTo>
                    <a:pt x="7227062" y="8682609"/>
                    <a:pt x="7219442" y="8690101"/>
                    <a:pt x="7210172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210172" y="8656320"/>
                  </a:lnTo>
                  <a:lnTo>
                    <a:pt x="7210172" y="8673211"/>
                  </a:lnTo>
                  <a:lnTo>
                    <a:pt x="7193280" y="86732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2470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24679" y="2821943"/>
            <a:ext cx="5420363" cy="125987"/>
            <a:chOff x="0" y="0"/>
            <a:chExt cx="7227151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174736" y="3383280"/>
            <a:ext cx="1920240" cy="1920240"/>
            <a:chOff x="0" y="0"/>
            <a:chExt cx="2560320" cy="256032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56832" y="5577840"/>
            <a:ext cx="4974336" cy="914400"/>
            <a:chOff x="0" y="0"/>
            <a:chExt cx="6632448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324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98" r="0" b="-5599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663244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 clones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56832" y="6675120"/>
            <a:ext cx="4974336" cy="2560320"/>
            <a:chOff x="0" y="0"/>
            <a:chExt cx="6632448" cy="3413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324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38" t="0" r="-1603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632448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"Mum, I'm in trouble, I need money." Sounds exactly like your son. From a few seconds of audio.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13415" y="2821943"/>
            <a:ext cx="5420363" cy="6517643"/>
            <a:chOff x="0" y="0"/>
            <a:chExt cx="7227151" cy="86901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719328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27062" cy="8690101"/>
            </a:xfrm>
            <a:custGeom>
              <a:avLst/>
              <a:gdLst/>
              <a:ahLst/>
              <a:cxnLst/>
              <a:rect r="r" b="b" t="t" l="l"/>
              <a:pathLst>
                <a:path h="8690101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8673211"/>
                  </a:lnTo>
                  <a:cubicBezTo>
                    <a:pt x="7227062" y="8682609"/>
                    <a:pt x="7219442" y="8690101"/>
                    <a:pt x="7210172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210172" y="8656320"/>
                  </a:lnTo>
                  <a:lnTo>
                    <a:pt x="7210172" y="8673211"/>
                  </a:lnTo>
                  <a:lnTo>
                    <a:pt x="7193280" y="867321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>
                <a:alpha val="24706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13415" y="2821943"/>
            <a:ext cx="5420363" cy="125987"/>
            <a:chOff x="0" y="0"/>
            <a:chExt cx="7227151" cy="1679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7193281" cy="134112"/>
            </a:xfrm>
            <a:custGeom>
              <a:avLst/>
              <a:gdLst/>
              <a:ahLst/>
              <a:cxnLst/>
              <a:rect r="r" b="b" t="t" l="l"/>
              <a:pathLst>
                <a:path h="134112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7B5EA7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27062" cy="167896"/>
            </a:xfrm>
            <a:custGeom>
              <a:avLst/>
              <a:gdLst/>
              <a:ahLst/>
              <a:cxnLst/>
              <a:rect r="r" b="b" t="t" l="l"/>
              <a:pathLst>
                <a:path h="167896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51003"/>
                  </a:lnTo>
                  <a:cubicBezTo>
                    <a:pt x="7227062" y="160401"/>
                    <a:pt x="7219442" y="167894"/>
                    <a:pt x="7210172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7210172" y="134112"/>
                  </a:lnTo>
                  <a:lnTo>
                    <a:pt x="7210172" y="151003"/>
                  </a:lnTo>
                  <a:lnTo>
                    <a:pt x="7193280" y="151003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063472" y="3383280"/>
            <a:ext cx="1920240" cy="1920240"/>
            <a:chOff x="0" y="0"/>
            <a:chExt cx="2560320" cy="256032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545568" y="5577840"/>
            <a:ext cx="4974336" cy="914400"/>
            <a:chOff x="0" y="0"/>
            <a:chExt cx="6632448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3244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98" r="0" b="-5599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663244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Fake video calls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545568" y="6675120"/>
            <a:ext cx="4974336" cy="2560320"/>
            <a:chOff x="0" y="0"/>
            <a:chExt cx="6632448" cy="3413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324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6632448">
                  <a:moveTo>
                    <a:pt x="0" y="0"/>
                  </a:moveTo>
                  <a:lnTo>
                    <a:pt x="6632448" y="0"/>
                  </a:lnTo>
                  <a:lnTo>
                    <a:pt x="6632448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38" t="0" r="-1603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632448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Deepfake CEO on a video call asking finance to wire funds urgently. Already happening.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-12697" y="9460487"/>
            <a:ext cx="18313403" cy="839219"/>
            <a:chOff x="0" y="0"/>
            <a:chExt cx="24417871" cy="11189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4383999" cy="1085088"/>
            </a:xfrm>
            <a:custGeom>
              <a:avLst/>
              <a:gdLst/>
              <a:ahLst/>
              <a:cxnLst/>
              <a:rect r="r" b="b" t="t" l="l"/>
              <a:pathLst>
                <a:path h="10850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85088"/>
                  </a:lnTo>
                  <a:lnTo>
                    <a:pt x="0" y="1085088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417782" cy="1118872"/>
            </a:xfrm>
            <a:custGeom>
              <a:avLst/>
              <a:gdLst/>
              <a:ahLst/>
              <a:cxnLst/>
              <a:rect r="r" b="b" t="t" l="l"/>
              <a:pathLst>
                <a:path h="11188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01979"/>
                  </a:lnTo>
                  <a:cubicBezTo>
                    <a:pt x="24417782" y="1111377"/>
                    <a:pt x="24410163" y="1118870"/>
                    <a:pt x="24400890" y="1118870"/>
                  </a:cubicBezTo>
                  <a:lnTo>
                    <a:pt x="16891" y="1118870"/>
                  </a:lnTo>
                  <a:cubicBezTo>
                    <a:pt x="7620" y="1118997"/>
                    <a:pt x="0" y="1111377"/>
                    <a:pt x="0" y="1101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01979"/>
                  </a:lnTo>
                  <a:lnTo>
                    <a:pt x="16891" y="1101979"/>
                  </a:lnTo>
                  <a:lnTo>
                    <a:pt x="16891" y="1085088"/>
                  </a:lnTo>
                  <a:lnTo>
                    <a:pt x="24400890" y="1085088"/>
                  </a:lnTo>
                  <a:lnTo>
                    <a:pt x="24400890" y="1101979"/>
                  </a:lnTo>
                  <a:lnTo>
                    <a:pt x="24384000" y="11019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0080" y="9473184"/>
            <a:ext cx="17007840" cy="813816"/>
            <a:chOff x="0" y="0"/>
            <a:chExt cx="22677120" cy="10850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677120" cy="1085088"/>
            </a:xfrm>
            <a:custGeom>
              <a:avLst/>
              <a:gdLst/>
              <a:ahLst/>
              <a:cxnLst/>
              <a:rect r="r" b="b" t="t" l="l"/>
              <a:pathLst>
                <a:path h="10850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85088"/>
                  </a:lnTo>
                  <a:lnTo>
                    <a:pt x="0" y="1085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215" r="0" b="-3572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2677120" cy="1132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Phishing emails written by AI succeed 4x more often. Trust nothing unexpected.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GOLDEN RULE — CALL THEM BACK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103120"/>
            <a:ext cx="4023360" cy="4023360"/>
            <a:chOff x="0" y="0"/>
            <a:chExt cx="5364480" cy="536448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12080" y="2011680"/>
            <a:ext cx="12527280" cy="1828800"/>
            <a:chOff x="0" y="0"/>
            <a:chExt cx="16703040" cy="243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7030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72" r="0" b="-83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47650"/>
              <a:ext cx="16703040" cy="268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12080" y="3877056"/>
            <a:ext cx="12527280" cy="822960"/>
            <a:chOff x="0" y="0"/>
            <a:chExt cx="167030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03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605" r="0" b="-2466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67030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E0525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Any urgent or unexpected request — verify through a second channel.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99383" y="4833623"/>
            <a:ext cx="12552683" cy="1122683"/>
            <a:chOff x="0" y="0"/>
            <a:chExt cx="16736911" cy="14969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670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703040">
                  <a:moveTo>
                    <a:pt x="0" y="195072"/>
                  </a:moveTo>
                  <a:cubicBezTo>
                    <a:pt x="0" y="87376"/>
                    <a:pt x="89154" y="0"/>
                    <a:pt x="199136" y="0"/>
                  </a:cubicBezTo>
                  <a:lnTo>
                    <a:pt x="16503904" y="0"/>
                  </a:lnTo>
                  <a:cubicBezTo>
                    <a:pt x="16613886" y="0"/>
                    <a:pt x="16703040" y="87376"/>
                    <a:pt x="16703040" y="195072"/>
                  </a:cubicBezTo>
                  <a:lnTo>
                    <a:pt x="16703040" y="1267968"/>
                  </a:lnTo>
                  <a:cubicBezTo>
                    <a:pt x="16703040" y="1375664"/>
                    <a:pt x="16613886" y="1463040"/>
                    <a:pt x="16503904" y="1463040"/>
                  </a:cubicBezTo>
                  <a:lnTo>
                    <a:pt x="199263" y="1463040"/>
                  </a:lnTo>
                  <a:cubicBezTo>
                    <a:pt x="89281" y="1463040"/>
                    <a:pt x="127" y="1375664"/>
                    <a:pt x="127" y="1267968"/>
                  </a:cubicBezTo>
                  <a:close/>
                </a:path>
              </a:pathLst>
            </a:custGeom>
            <a:solidFill>
              <a:srgbClr val="E05252">
                <a:alpha val="7451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736949" cy="1496822"/>
            </a:xfrm>
            <a:custGeom>
              <a:avLst/>
              <a:gdLst/>
              <a:ahLst/>
              <a:cxnLst/>
              <a:rect r="r" b="b" t="t" l="l"/>
              <a:pathLst>
                <a:path h="1496822" w="16736949">
                  <a:moveTo>
                    <a:pt x="0" y="211963"/>
                  </a:moveTo>
                  <a:cubicBezTo>
                    <a:pt x="0" y="94615"/>
                    <a:pt x="97028" y="0"/>
                    <a:pt x="216154" y="0"/>
                  </a:cubicBezTo>
                  <a:lnTo>
                    <a:pt x="16520795" y="0"/>
                  </a:lnTo>
                  <a:lnTo>
                    <a:pt x="16520795" y="16891"/>
                  </a:lnTo>
                  <a:lnTo>
                    <a:pt x="16520795" y="0"/>
                  </a:lnTo>
                  <a:cubicBezTo>
                    <a:pt x="16639794" y="0"/>
                    <a:pt x="16736949" y="94615"/>
                    <a:pt x="16736949" y="211963"/>
                  </a:cubicBezTo>
                  <a:lnTo>
                    <a:pt x="16720058" y="211963"/>
                  </a:lnTo>
                  <a:lnTo>
                    <a:pt x="16736949" y="211963"/>
                  </a:lnTo>
                  <a:lnTo>
                    <a:pt x="16736949" y="1284859"/>
                  </a:lnTo>
                  <a:lnTo>
                    <a:pt x="16720058" y="1284859"/>
                  </a:lnTo>
                  <a:lnTo>
                    <a:pt x="16736949" y="1284859"/>
                  </a:lnTo>
                  <a:cubicBezTo>
                    <a:pt x="16736949" y="1402334"/>
                    <a:pt x="16639921" y="1496822"/>
                    <a:pt x="16520795" y="1496822"/>
                  </a:cubicBezTo>
                  <a:lnTo>
                    <a:pt x="16520795" y="1479931"/>
                  </a:lnTo>
                  <a:lnTo>
                    <a:pt x="16520795" y="1496822"/>
                  </a:lnTo>
                  <a:lnTo>
                    <a:pt x="216154" y="1496822"/>
                  </a:lnTo>
                  <a:lnTo>
                    <a:pt x="216154" y="1479931"/>
                  </a:lnTo>
                  <a:lnTo>
                    <a:pt x="216154" y="1496822"/>
                  </a:lnTo>
                  <a:cubicBezTo>
                    <a:pt x="97028" y="1496949"/>
                    <a:pt x="0" y="1402334"/>
                    <a:pt x="0" y="128485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1284859"/>
                  </a:lnTo>
                  <a:lnTo>
                    <a:pt x="16891" y="1284859"/>
                  </a:lnTo>
                  <a:lnTo>
                    <a:pt x="33909" y="1284859"/>
                  </a:lnTo>
                  <a:cubicBezTo>
                    <a:pt x="33909" y="1382903"/>
                    <a:pt x="115189" y="1463040"/>
                    <a:pt x="216154" y="1463040"/>
                  </a:cubicBezTo>
                  <a:lnTo>
                    <a:pt x="16520795" y="1463040"/>
                  </a:lnTo>
                  <a:cubicBezTo>
                    <a:pt x="16621759" y="1463040"/>
                    <a:pt x="16703039" y="1382903"/>
                    <a:pt x="16703039" y="1284859"/>
                  </a:cubicBezTo>
                  <a:lnTo>
                    <a:pt x="16703039" y="211963"/>
                  </a:lnTo>
                  <a:cubicBezTo>
                    <a:pt x="16703039" y="113919"/>
                    <a:pt x="16621759" y="33782"/>
                    <a:pt x="16520795" y="33782"/>
                  </a:cubicBezTo>
                  <a:lnTo>
                    <a:pt x="216154" y="33782"/>
                  </a:lnTo>
                  <a:lnTo>
                    <a:pt x="216154" y="16891"/>
                  </a:lnTo>
                  <a:lnTo>
                    <a:pt x="216154" y="33909"/>
                  </a:lnTo>
                  <a:cubicBezTo>
                    <a:pt x="115189" y="33909"/>
                    <a:pt x="33909" y="113919"/>
                    <a:pt x="33909" y="211963"/>
                  </a:cubicBezTo>
                  <a:close/>
                </a:path>
              </a:pathLst>
            </a:custGeom>
            <a:solidFill>
              <a:srgbClr val="E05252">
                <a:alpha val="24706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12080" y="4846320"/>
            <a:ext cx="12527280" cy="1097280"/>
            <a:chOff x="0" y="0"/>
            <a:chExt cx="1670304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030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703039">
                  <a:moveTo>
                    <a:pt x="0" y="0"/>
                  </a:moveTo>
                  <a:lnTo>
                    <a:pt x="16703039" y="0"/>
                  </a:lnTo>
                  <a:lnTo>
                    <a:pt x="167030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54" r="0" b="-1724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67030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Boss emails asking for a wire transfer? Call them on their known number.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6241799"/>
            <a:ext cx="17033243" cy="2860043"/>
            <a:chOff x="0" y="0"/>
            <a:chExt cx="22710991" cy="3813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2677119" cy="3779520"/>
            </a:xfrm>
            <a:custGeom>
              <a:avLst/>
              <a:gdLst/>
              <a:ahLst/>
              <a:cxnLst/>
              <a:rect r="r" b="b" t="t" l="l"/>
              <a:pathLst>
                <a:path h="37795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71090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3796411"/>
                  </a:lnTo>
                  <a:cubicBezTo>
                    <a:pt x="22710902" y="3805809"/>
                    <a:pt x="22703282" y="3813302"/>
                    <a:pt x="22694010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694010" y="3779520"/>
                  </a:lnTo>
                  <a:lnTo>
                    <a:pt x="22694010" y="3796411"/>
                  </a:lnTo>
                  <a:lnTo>
                    <a:pt x="22677120" y="37964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2000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6241799"/>
            <a:ext cx="171707" cy="2860043"/>
            <a:chOff x="0" y="0"/>
            <a:chExt cx="228943" cy="3813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95072" cy="3779520"/>
            </a:xfrm>
            <a:custGeom>
              <a:avLst/>
              <a:gdLst/>
              <a:ahLst/>
              <a:cxnLst/>
              <a:rect r="r" b="b" t="t" l="l"/>
              <a:pathLst>
                <a:path h="37795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854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796411"/>
                  </a:lnTo>
                  <a:cubicBezTo>
                    <a:pt x="228854" y="3805809"/>
                    <a:pt x="221234" y="3813302"/>
                    <a:pt x="211963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11963" y="3779520"/>
                  </a:lnTo>
                  <a:lnTo>
                    <a:pt x="211963" y="3796411"/>
                  </a:lnTo>
                  <a:lnTo>
                    <a:pt x="195072" y="37964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60704" y="6254496"/>
            <a:ext cx="16550640" cy="2834640"/>
            <a:chOff x="0" y="0"/>
            <a:chExt cx="22067520" cy="3779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675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2067520">
                  <a:moveTo>
                    <a:pt x="0" y="0"/>
                  </a:moveTo>
                  <a:lnTo>
                    <a:pt x="22067520" y="0"/>
                  </a:lnTo>
                  <a:lnTo>
                    <a:pt x="2206752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67" r="0" b="-637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2067520" cy="3846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Never reply to the suspicious channel itself. Call the person directly using a number you already know — not one in the email.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-12697" y="9460487"/>
            <a:ext cx="18313403" cy="839219"/>
            <a:chOff x="0" y="0"/>
            <a:chExt cx="24417871" cy="11189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4383999" cy="1085088"/>
            </a:xfrm>
            <a:custGeom>
              <a:avLst/>
              <a:gdLst/>
              <a:ahLst/>
              <a:cxnLst/>
              <a:rect r="r" b="b" t="t" l="l"/>
              <a:pathLst>
                <a:path h="10850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85088"/>
                  </a:lnTo>
                  <a:lnTo>
                    <a:pt x="0" y="1085088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17782" cy="1118872"/>
            </a:xfrm>
            <a:custGeom>
              <a:avLst/>
              <a:gdLst/>
              <a:ahLst/>
              <a:cxnLst/>
              <a:rect r="r" b="b" t="t" l="l"/>
              <a:pathLst>
                <a:path h="11188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01979"/>
                  </a:lnTo>
                  <a:cubicBezTo>
                    <a:pt x="24417782" y="1111377"/>
                    <a:pt x="24410163" y="1118870"/>
                    <a:pt x="24400890" y="1118870"/>
                  </a:cubicBezTo>
                  <a:lnTo>
                    <a:pt x="16891" y="1118870"/>
                  </a:lnTo>
                  <a:cubicBezTo>
                    <a:pt x="7620" y="1118997"/>
                    <a:pt x="0" y="1111377"/>
                    <a:pt x="0" y="11019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01979"/>
                  </a:lnTo>
                  <a:lnTo>
                    <a:pt x="16891" y="1101979"/>
                  </a:lnTo>
                  <a:lnTo>
                    <a:pt x="16891" y="1085088"/>
                  </a:lnTo>
                  <a:lnTo>
                    <a:pt x="24400890" y="1085088"/>
                  </a:lnTo>
                  <a:lnTo>
                    <a:pt x="24400890" y="1101979"/>
                  </a:lnTo>
                  <a:lnTo>
                    <a:pt x="24384000" y="11019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392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40080" y="9473184"/>
            <a:ext cx="17007840" cy="813816"/>
            <a:chOff x="0" y="0"/>
            <a:chExt cx="22677120" cy="10850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677120" cy="1085088"/>
            </a:xfrm>
            <a:custGeom>
              <a:avLst/>
              <a:gdLst/>
              <a:ahLst/>
              <a:cxnLst/>
              <a:rect r="r" b="b" t="t" l="l"/>
              <a:pathLst>
                <a:path h="10850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85088"/>
                  </a:lnTo>
                  <a:lnTo>
                    <a:pt x="0" y="1085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215" r="0" b="-3572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2677120" cy="1132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If it's real, they won't mind the extra call. If it's fake, you just saved yourself.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80F1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854203"/>
            <a:chOff x="0" y="0"/>
            <a:chExt cx="228943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0"/>
            <a:ext cx="17007840" cy="1828800"/>
            <a:chOff x="0" y="0"/>
            <a:chExt cx="2267712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210" r="0" b="-1312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67712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DAILY AI SAFETY CHECKLIST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920240"/>
            <a:ext cx="17190720" cy="731520"/>
            <a:chOff x="0" y="0"/>
            <a:chExt cx="2292096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920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E8EFF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Five quick checks. Build the habit. Use AI without worry.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821943"/>
            <a:ext cx="17216123" cy="1159259"/>
            <a:chOff x="0" y="0"/>
            <a:chExt cx="22954831" cy="1545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29209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5474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528699"/>
                  </a:lnTo>
                  <a:cubicBezTo>
                    <a:pt x="22954743" y="1538097"/>
                    <a:pt x="22947123" y="1545590"/>
                    <a:pt x="229378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937851" y="1511808"/>
                  </a:lnTo>
                  <a:lnTo>
                    <a:pt x="22937851" y="1528699"/>
                  </a:lnTo>
                  <a:lnTo>
                    <a:pt x="22920961" y="152869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821943"/>
            <a:ext cx="153419" cy="1159259"/>
            <a:chOff x="0" y="0"/>
            <a:chExt cx="204559" cy="15456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A6B9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6B9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3072384"/>
            <a:ext cx="658368" cy="658368"/>
            <a:chOff x="0" y="0"/>
            <a:chExt cx="877824" cy="87782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800" y="2834640"/>
            <a:ext cx="15361920" cy="1133856"/>
            <a:chOff x="0" y="0"/>
            <a:chExt cx="20482560" cy="15118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825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90" r="0" b="-2139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48256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6B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pasting: </a:t>
              </a:r>
              <a:r>
                <a:rPr lang="en-US" sz="27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Would I show this to a stranger? If no — don't paste it.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5943" y="4138679"/>
            <a:ext cx="17216123" cy="1159259"/>
            <a:chOff x="0" y="0"/>
            <a:chExt cx="22954831" cy="15456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29209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95474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528699"/>
                  </a:lnTo>
                  <a:cubicBezTo>
                    <a:pt x="22954743" y="1538097"/>
                    <a:pt x="22947123" y="1545590"/>
                    <a:pt x="229378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937851" y="1511808"/>
                  </a:lnTo>
                  <a:lnTo>
                    <a:pt x="22937851" y="1528699"/>
                  </a:lnTo>
                  <a:lnTo>
                    <a:pt x="22920961" y="152869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>
                <a:alpha val="24706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35943" y="4138679"/>
            <a:ext cx="153419" cy="1159259"/>
            <a:chOff x="0" y="0"/>
            <a:chExt cx="204559" cy="15456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E8A83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A83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4389120"/>
            <a:ext cx="658368" cy="658368"/>
            <a:chOff x="0" y="0"/>
            <a:chExt cx="877824" cy="877824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828800" y="4151376"/>
            <a:ext cx="15361920" cy="1133856"/>
            <a:chOff x="0" y="0"/>
            <a:chExt cx="20482560" cy="15118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825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90" r="0" b="-2139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048256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8A8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believing: </a:t>
              </a:r>
              <a:r>
                <a:rPr lang="en-US" sz="27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I verify this from a real source? Did I check?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5943" y="5455415"/>
            <a:ext cx="17216123" cy="1159259"/>
            <a:chOff x="0" y="0"/>
            <a:chExt cx="22954831" cy="154567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229209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95474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528699"/>
                  </a:lnTo>
                  <a:cubicBezTo>
                    <a:pt x="22954743" y="1538097"/>
                    <a:pt x="22947123" y="1545590"/>
                    <a:pt x="229378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937851" y="1511808"/>
                  </a:lnTo>
                  <a:lnTo>
                    <a:pt x="22937851" y="1528699"/>
                  </a:lnTo>
                  <a:lnTo>
                    <a:pt x="22920961" y="152869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>
                <a:alpha val="24706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35943" y="5455415"/>
            <a:ext cx="153419" cy="1159259"/>
            <a:chOff x="0" y="0"/>
            <a:chExt cx="204559" cy="15456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7B5EA7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5EA7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5705856"/>
            <a:ext cx="658368" cy="658368"/>
            <a:chOff x="0" y="0"/>
            <a:chExt cx="877824" cy="877824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828800" y="5468112"/>
            <a:ext cx="15361920" cy="1133856"/>
            <a:chOff x="0" y="0"/>
            <a:chExt cx="20482560" cy="15118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825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90" r="0" b="-2139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048256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7B5E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acting: </a:t>
              </a:r>
              <a:r>
                <a:rPr lang="en-US" sz="27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this a high-stakes decision? Get a human expert.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5943" y="6772151"/>
            <a:ext cx="17216123" cy="1159259"/>
            <a:chOff x="0" y="0"/>
            <a:chExt cx="22954831" cy="15456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9209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95474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528699"/>
                  </a:lnTo>
                  <a:cubicBezTo>
                    <a:pt x="22954743" y="1538097"/>
                    <a:pt x="22947123" y="1545590"/>
                    <a:pt x="229378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937851" y="1511808"/>
                  </a:lnTo>
                  <a:lnTo>
                    <a:pt x="22937851" y="1528699"/>
                  </a:lnTo>
                  <a:lnTo>
                    <a:pt x="22920961" y="152869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>
                <a:alpha val="24706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35943" y="6772151"/>
            <a:ext cx="153419" cy="1159259"/>
            <a:chOff x="0" y="0"/>
            <a:chExt cx="204559" cy="15456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7022592"/>
            <a:ext cx="658368" cy="658368"/>
            <a:chOff x="0" y="0"/>
            <a:chExt cx="877824" cy="877824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828800" y="6784848"/>
            <a:ext cx="15361920" cy="1133856"/>
            <a:chOff x="0" y="0"/>
            <a:chExt cx="20482560" cy="15118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4825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90" r="0" b="-21399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048256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replying: </a:t>
              </a:r>
              <a:r>
                <a:rPr lang="en-US" sz="27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this urgent request expected? Call them on a known number.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35943" y="8088887"/>
            <a:ext cx="17216123" cy="1159259"/>
            <a:chOff x="0" y="0"/>
            <a:chExt cx="22954831" cy="154567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229209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95474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528699"/>
                  </a:lnTo>
                  <a:cubicBezTo>
                    <a:pt x="22954743" y="1538097"/>
                    <a:pt x="22947123" y="1545590"/>
                    <a:pt x="229378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937851" y="1511808"/>
                  </a:lnTo>
                  <a:lnTo>
                    <a:pt x="22937851" y="1528699"/>
                  </a:lnTo>
                  <a:lnTo>
                    <a:pt x="22920961" y="1528699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>
                <a:alpha val="24706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35943" y="8088887"/>
            <a:ext cx="153419" cy="1159259"/>
            <a:chOff x="0" y="0"/>
            <a:chExt cx="204559" cy="15456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ECC71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" y="8339328"/>
            <a:ext cx="658368" cy="658368"/>
            <a:chOff x="0" y="0"/>
            <a:chExt cx="877824" cy="877824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828800" y="8101584"/>
            <a:ext cx="15361920" cy="1133856"/>
            <a:chOff x="0" y="0"/>
            <a:chExt cx="20482560" cy="15118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825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90" r="0" b="-21399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048256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publishing: </a:t>
              </a:r>
              <a:r>
                <a:rPr lang="en-US" sz="2799">
                  <a:solidFill>
                    <a:srgbClr val="E8EF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Did I review every line? AI doesn't own mistakes — you do.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-12697" y="9588503"/>
            <a:ext cx="18313403" cy="711203"/>
            <a:chOff x="0" y="0"/>
            <a:chExt cx="24417871" cy="9482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2438399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417782" cy="948184"/>
            </a:xfrm>
            <a:custGeom>
              <a:avLst/>
              <a:gdLst/>
              <a:ahLst/>
              <a:cxnLst/>
              <a:rect r="r" b="b" t="t" l="l"/>
              <a:pathLst>
                <a:path h="94818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31291"/>
                  </a:lnTo>
                  <a:cubicBezTo>
                    <a:pt x="24417782" y="940689"/>
                    <a:pt x="24410163" y="948182"/>
                    <a:pt x="2440089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24400890" y="914400"/>
                  </a:lnTo>
                  <a:lnTo>
                    <a:pt x="24400890" y="931291"/>
                  </a:lnTo>
                  <a:lnTo>
                    <a:pt x="24384000" y="931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40080" y="9601200"/>
            <a:ext cx="17007840" cy="685800"/>
            <a:chOff x="0" y="0"/>
            <a:chExt cx="2267712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677120" cy="914400"/>
            </a:xfrm>
            <a:custGeom>
              <a:avLst/>
              <a:gdLst/>
              <a:ahLst/>
              <a:cxnLst/>
              <a:rect r="r" b="b" t="t" l="l"/>
              <a:pathLst>
                <a:path h="9144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228" r="0" b="-43322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22677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i="true">
                  <a:solidFill>
                    <a:srgbClr val="0D1B2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Five seconds before each step. Saves you from every common AI mistake.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788903" y="-927097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00D4AA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00D4AA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67360" y="1554480"/>
            <a:ext cx="4389120" cy="4389120"/>
            <a:chOff x="0" y="0"/>
            <a:chExt cx="5852160" cy="585216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1005840"/>
            <a:ext cx="11887200" cy="585216"/>
            <a:chOff x="0" y="0"/>
            <a:chExt cx="1584960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780288"/>
            </a:xfrm>
            <a:custGeom>
              <a:avLst/>
              <a:gdLst/>
              <a:ahLst/>
              <a:cxnLst/>
              <a:rect r="r" b="b" t="t" l="l"/>
              <a:pathLst>
                <a:path h="78028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8496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600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TAKEAWAY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737360"/>
            <a:ext cx="11887200" cy="5486400"/>
            <a:chOff x="0" y="0"/>
            <a:chExt cx="15849600" cy="731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52400"/>
              <a:ext cx="15849600" cy="746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is powerful.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E8EF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stay</a:t>
              </a:r>
            </a:p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charge.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8823" y="7851143"/>
            <a:ext cx="16850363" cy="1214123"/>
            <a:chOff x="0" y="0"/>
            <a:chExt cx="22467151" cy="16188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2223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6706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601851"/>
                  </a:lnTo>
                  <a:cubicBezTo>
                    <a:pt x="22467063" y="1611249"/>
                    <a:pt x="22459443" y="1618742"/>
                    <a:pt x="2245017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450171" y="1584960"/>
                  </a:lnTo>
                  <a:lnTo>
                    <a:pt x="22450171" y="1601851"/>
                  </a:lnTo>
                  <a:lnTo>
                    <a:pt x="22433280" y="16018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>
                <a:alpha val="48627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8823" y="7851143"/>
            <a:ext cx="171707" cy="1214123"/>
            <a:chOff x="0" y="0"/>
            <a:chExt cx="228943" cy="16188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95072" cy="1584960"/>
            </a:xfrm>
            <a:custGeom>
              <a:avLst/>
              <a:gdLst/>
              <a:ahLst/>
              <a:cxnLst/>
              <a:rect r="r" b="b" t="t" l="l"/>
              <a:pathLst>
                <a:path h="15849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854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01851"/>
                  </a:lnTo>
                  <a:cubicBezTo>
                    <a:pt x="228854" y="1611249"/>
                    <a:pt x="221234" y="1618742"/>
                    <a:pt x="211963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11963" y="1584960"/>
                  </a:lnTo>
                  <a:lnTo>
                    <a:pt x="211963" y="1601851"/>
                  </a:lnTo>
                  <a:lnTo>
                    <a:pt x="195072" y="160185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7863840"/>
            <a:ext cx="16367760" cy="1188720"/>
            <a:chOff x="0" y="0"/>
            <a:chExt cx="2182368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8236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823680">
                  <a:moveTo>
                    <a:pt x="0" y="0"/>
                  </a:moveTo>
                  <a:lnTo>
                    <a:pt x="21823680" y="0"/>
                  </a:lnTo>
                  <a:lnTo>
                    <a:pt x="218236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293" r="0" b="-2182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18236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Protect your data. Question the answer. Spot the scams. That's the whole thing.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2697" y="9497063"/>
            <a:ext cx="18313403" cy="802643"/>
            <a:chOff x="0" y="0"/>
            <a:chExt cx="24417871" cy="10701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4383999" cy="1036320"/>
            </a:xfrm>
            <a:custGeom>
              <a:avLst/>
              <a:gdLst/>
              <a:ahLst/>
              <a:cxnLst/>
              <a:rect r="r" b="b" t="t" l="l"/>
              <a:pathLst>
                <a:path h="10363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036320"/>
                  </a:lnTo>
                  <a:lnTo>
                    <a:pt x="0" y="1036320"/>
                  </a:lnTo>
                  <a:close/>
                </a:path>
              </a:pathLst>
            </a:custGeom>
            <a:solidFill>
              <a:srgbClr val="060C1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17782" cy="1070104"/>
            </a:xfrm>
            <a:custGeom>
              <a:avLst/>
              <a:gdLst/>
              <a:ahLst/>
              <a:cxnLst/>
              <a:rect r="r" b="b" t="t" l="l"/>
              <a:pathLst>
                <a:path h="10701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53211"/>
                  </a:lnTo>
                  <a:cubicBezTo>
                    <a:pt x="24417782" y="1062609"/>
                    <a:pt x="24410163" y="1070102"/>
                    <a:pt x="24400890" y="1070102"/>
                  </a:cubicBezTo>
                  <a:lnTo>
                    <a:pt x="16891" y="1070102"/>
                  </a:lnTo>
                  <a:cubicBezTo>
                    <a:pt x="7620" y="1070229"/>
                    <a:pt x="0" y="1062609"/>
                    <a:pt x="0" y="105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16891" y="1036320"/>
                  </a:lnTo>
                  <a:lnTo>
                    <a:pt x="24400890" y="1036320"/>
                  </a:lnTo>
                  <a:lnTo>
                    <a:pt x="24400890" y="1053211"/>
                  </a:lnTo>
                  <a:lnTo>
                    <a:pt x="24384000" y="10532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C1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" y="9509760"/>
            <a:ext cx="17007840" cy="777240"/>
            <a:chOff x="0" y="0"/>
            <a:chExt cx="22677120" cy="1036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67712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36320"/>
                  </a:lnTo>
                  <a:lnTo>
                    <a:pt x="0" y="1036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6378" r="0" b="-37637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2677120" cy="1083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nexiuslabs.com  ·  academy.nexiuslabs.com  ·  Nexius Academy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6F0E923EF43345BBEEFFF6B68069C1" ma:contentTypeVersion="13" ma:contentTypeDescription="Create a new document." ma:contentTypeScope="" ma:versionID="7b76ffdeeee35c58ed3b812407fff139">
  <xsd:schema xmlns:xsd="http://www.w3.org/2001/XMLSchema" xmlns:xs="http://www.w3.org/2001/XMLSchema" xmlns:p="http://schemas.microsoft.com/office/2006/metadata/properties" xmlns:ns2="5c8dfadc-7807-48cb-a32f-0886e7c8546a" xmlns:ns3="ff951595-ae20-4de2-b27f-dacc80e4443f" targetNamespace="http://schemas.microsoft.com/office/2006/metadata/properties" ma:root="true" ma:fieldsID="a5ac6775d19dfd2b9fd2330e2fc42b3f" ns2:_="" ns3:_="">
    <xsd:import namespace="5c8dfadc-7807-48cb-a32f-0886e7c8546a"/>
    <xsd:import namespace="ff951595-ae20-4de2-b27f-dacc80e444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8dfadc-7807-48cb-a32f-0886e7c854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4df4eb9-44cc-4c92-890f-dc5bc88c1c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51595-ae20-4de2-b27f-dacc80e4443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e8d25b-0e68-4f87-bb57-1a44a9e6191c}" ma:internalName="TaxCatchAll" ma:showField="CatchAllData" ma:web="ff951595-ae20-4de2-b27f-dacc80e444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51595-ae20-4de2-b27f-dacc80e4443f" xsi:nil="true"/>
    <lcf76f155ced4ddcb4097134ff3c332f xmlns="5c8dfadc-7807-48cb-a32f-0886e7c854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D4D524E-24B0-4F1E-BDD7-065BBEBA4E73}"/>
</file>

<file path=customXml/itemProps2.xml><?xml version="1.0" encoding="utf-8"?>
<ds:datastoreItem xmlns:ds="http://schemas.openxmlformats.org/officeDocument/2006/customXml" ds:itemID="{D799D0FC-CF76-4C1A-91DA-FA2AAC97F88B}"/>
</file>

<file path=customXml/itemProps3.xml><?xml version="1.0" encoding="utf-8"?>
<ds:datastoreItem xmlns:ds="http://schemas.openxmlformats.org/officeDocument/2006/customXml" ds:itemID="{7DAB5037-065D-4431-9F4F-A784D30B0D3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Using-AI-Safely-Beginners.pptx</dc:title>
  <cp:revision>1</cp:revision>
  <dcterms:created xsi:type="dcterms:W3CDTF">2006-08-16T00:00:00Z</dcterms:created>
  <dcterms:modified xsi:type="dcterms:W3CDTF">2011-08-01T06:04:30Z</dcterms:modified>
  <dc:identifier>DAHJzTFI-tE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0x010100746F0E923EF43345BBEEFFF6B68069C1</vt:lpwstr>
  </property>
</Properties>
</file>